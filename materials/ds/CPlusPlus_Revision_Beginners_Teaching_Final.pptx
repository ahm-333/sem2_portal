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c686f738648ff" /><Relationship Type="http://schemas.openxmlformats.org/officeDocument/2006/relationships/extended-properties" Target="/docProps/app.xml" Id="R2a7e48b59ae842c6" /><Relationship Type="http://schemas.openxmlformats.org/officeDocument/2006/relationships/officeDocument" Target="/ppt/presentation.xml" Id="R96f486a9500f4b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d4fdfe2a84e30"/>
  </p:sldMasterIdLst>
  <p:notesMasterIdLst>
    <p:notesMasterId xmlns:r="http://schemas.openxmlformats.org/officeDocument/2006/relationships" r:id="Rfe5f7a6386434258"/>
  </p:notesMasterIdLst>
  <p:sldIdLst>
    <p:sldId xmlns:r="http://schemas.openxmlformats.org/officeDocument/2006/relationships" id="256" r:id="R02986f15e2c44850"/>
    <p:sldId xmlns:r="http://schemas.openxmlformats.org/officeDocument/2006/relationships" id="257" r:id="R325c2cdde3fc4b9d"/>
    <p:sldId xmlns:r="http://schemas.openxmlformats.org/officeDocument/2006/relationships" id="258" r:id="R6c3532743eaf4dca"/>
    <p:sldId xmlns:r="http://schemas.openxmlformats.org/officeDocument/2006/relationships" id="259" r:id="Rfa305419cdc54e8e"/>
    <p:sldId xmlns:r="http://schemas.openxmlformats.org/officeDocument/2006/relationships" id="260" r:id="R02444c91ec2d4339"/>
    <p:sldId xmlns:r="http://schemas.openxmlformats.org/officeDocument/2006/relationships" id="261" r:id="R388f2111f2c7459a"/>
    <p:sldId xmlns:r="http://schemas.openxmlformats.org/officeDocument/2006/relationships" id="262" r:id="R9a3ba599646c41f1"/>
    <p:sldId xmlns:r="http://schemas.openxmlformats.org/officeDocument/2006/relationships" id="263" r:id="Re1052eeb02524968"/>
    <p:sldId xmlns:r="http://schemas.openxmlformats.org/officeDocument/2006/relationships" id="264" r:id="Rb6c0decd9cfd48a5"/>
    <p:sldId xmlns:r="http://schemas.openxmlformats.org/officeDocument/2006/relationships" id="265" r:id="R42338da55fed4ff1"/>
    <p:sldId xmlns:r="http://schemas.openxmlformats.org/officeDocument/2006/relationships" id="266" r:id="Rb703515422fb4b9f"/>
    <p:sldId xmlns:r="http://schemas.openxmlformats.org/officeDocument/2006/relationships" id="267" r:id="R041f81e571a348cb"/>
    <p:sldId xmlns:r="http://schemas.openxmlformats.org/officeDocument/2006/relationships" id="268" r:id="R25966a2eff004b1f"/>
    <p:sldId xmlns:r="http://schemas.openxmlformats.org/officeDocument/2006/relationships" id="269" r:id="R38f30ee0e4614b38"/>
    <p:sldId xmlns:r="http://schemas.openxmlformats.org/officeDocument/2006/relationships" id="270" r:id="R55cf5e4ec7624bbf"/>
    <p:sldId xmlns:r="http://schemas.openxmlformats.org/officeDocument/2006/relationships" id="271" r:id="Re0487d1c6a4e4835"/>
    <p:sldId xmlns:r="http://schemas.openxmlformats.org/officeDocument/2006/relationships" id="272" r:id="R427008c29cc64d5b"/>
    <p:sldId xmlns:r="http://schemas.openxmlformats.org/officeDocument/2006/relationships" id="273" r:id="R768d34254e534dd4"/>
    <p:sldId xmlns:r="http://schemas.openxmlformats.org/officeDocument/2006/relationships" id="274" r:id="Rae68b9ad42e34823"/>
    <p:sldId xmlns:r="http://schemas.openxmlformats.org/officeDocument/2006/relationships" id="275" r:id="Ra7f022bd97504f33"/>
    <p:sldId xmlns:r="http://schemas.openxmlformats.org/officeDocument/2006/relationships" id="276" r:id="R526c400a50564020"/>
    <p:sldId xmlns:r="http://schemas.openxmlformats.org/officeDocument/2006/relationships" id="277" r:id="Rc2a18a6b9e45409f"/>
    <p:sldId xmlns:r="http://schemas.openxmlformats.org/officeDocument/2006/relationships" id="278" r:id="Rbc0a931b6ae841e5"/>
    <p:sldId xmlns:r="http://schemas.openxmlformats.org/officeDocument/2006/relationships" id="279" r:id="R7abcd94d1fad4998"/>
    <p:sldId xmlns:r="http://schemas.openxmlformats.org/officeDocument/2006/relationships" id="280" r:id="Re4676bd74a564c30"/>
    <p:sldId xmlns:r="http://schemas.openxmlformats.org/officeDocument/2006/relationships" id="281" r:id="R1a1b87303d5b42dd"/>
    <p:sldId xmlns:r="http://schemas.openxmlformats.org/officeDocument/2006/relationships" id="282" r:id="R1a67cbd526b1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660dfb8b5e4f57" /><Relationship Type="http://schemas.openxmlformats.org/officeDocument/2006/relationships/slideMaster" Target="/ppt/slideMasters/slideMaster1.xml" Id="R753d4fdfe2a84e30" /><Relationship Type="http://schemas.openxmlformats.org/officeDocument/2006/relationships/notesMaster" Target="/ppt/notesMasters/notesMaster1.xml" Id="Rfe5f7a6386434258" /><Relationship Type="http://schemas.openxmlformats.org/officeDocument/2006/relationships/presProps" Target="/ppt/presProps.xml" Id="R5e21654598194d79" /><Relationship Type="http://schemas.openxmlformats.org/officeDocument/2006/relationships/tableStyles" Target="/ppt/tableStyles.xml" Id="R193e9cba62c946d0" /><Relationship Type="http://schemas.openxmlformats.org/officeDocument/2006/relationships/slide" Target="/ppt/slides/slide1.xml" Id="R02986f15e2c44850" /><Relationship Type="http://schemas.openxmlformats.org/officeDocument/2006/relationships/slide" Target="/ppt/slides/slide2.xml" Id="R325c2cdde3fc4b9d" /><Relationship Type="http://schemas.openxmlformats.org/officeDocument/2006/relationships/slide" Target="/ppt/slides/slide3.xml" Id="R6c3532743eaf4dca" /><Relationship Type="http://schemas.openxmlformats.org/officeDocument/2006/relationships/slide" Target="/ppt/slides/slide4.xml" Id="Rfa305419cdc54e8e" /><Relationship Type="http://schemas.openxmlformats.org/officeDocument/2006/relationships/slide" Target="/ppt/slides/slide5.xml" Id="R02444c91ec2d4339" /><Relationship Type="http://schemas.openxmlformats.org/officeDocument/2006/relationships/slide" Target="/ppt/slides/slide6.xml" Id="R388f2111f2c7459a" /><Relationship Type="http://schemas.openxmlformats.org/officeDocument/2006/relationships/slide" Target="/ppt/slides/slide7.xml" Id="R9a3ba599646c41f1" /><Relationship Type="http://schemas.openxmlformats.org/officeDocument/2006/relationships/slide" Target="/ppt/slides/slide8.xml" Id="Re1052eeb02524968" /><Relationship Type="http://schemas.openxmlformats.org/officeDocument/2006/relationships/slide" Target="/ppt/slides/slide9.xml" Id="Rb6c0decd9cfd48a5" /><Relationship Type="http://schemas.openxmlformats.org/officeDocument/2006/relationships/slide" Target="/ppt/slides/slide10.xml" Id="R42338da55fed4ff1" /><Relationship Type="http://schemas.openxmlformats.org/officeDocument/2006/relationships/slide" Target="/ppt/slides/slide11.xml" Id="Rb703515422fb4b9f" /><Relationship Type="http://schemas.openxmlformats.org/officeDocument/2006/relationships/slide" Target="/ppt/slides/slide12.xml" Id="R041f81e571a348cb" /><Relationship Type="http://schemas.openxmlformats.org/officeDocument/2006/relationships/slide" Target="/ppt/slides/slide13.xml" Id="R25966a2eff004b1f" /><Relationship Type="http://schemas.openxmlformats.org/officeDocument/2006/relationships/slide" Target="/ppt/slides/slide14.xml" Id="R38f30ee0e4614b38" /><Relationship Type="http://schemas.openxmlformats.org/officeDocument/2006/relationships/slide" Target="/ppt/slides/slide15.xml" Id="R55cf5e4ec7624bbf" /><Relationship Type="http://schemas.openxmlformats.org/officeDocument/2006/relationships/slide" Target="/ppt/slides/slide16.xml" Id="Re0487d1c6a4e4835" /><Relationship Type="http://schemas.openxmlformats.org/officeDocument/2006/relationships/slide" Target="/ppt/slides/slide17.xml" Id="R427008c29cc64d5b" /><Relationship Type="http://schemas.openxmlformats.org/officeDocument/2006/relationships/slide" Target="/ppt/slides/slide18.xml" Id="R768d34254e534dd4" /><Relationship Type="http://schemas.openxmlformats.org/officeDocument/2006/relationships/slide" Target="/ppt/slides/slide19.xml" Id="Rae68b9ad42e34823" /><Relationship Type="http://schemas.openxmlformats.org/officeDocument/2006/relationships/slide" Target="/ppt/slides/slide20.xml" Id="Ra7f022bd97504f33" /><Relationship Type="http://schemas.openxmlformats.org/officeDocument/2006/relationships/slide" Target="/ppt/slides/slide21.xml" Id="R526c400a50564020" /><Relationship Type="http://schemas.openxmlformats.org/officeDocument/2006/relationships/slide" Target="/ppt/slides/slide22.xml" Id="Rc2a18a6b9e45409f" /><Relationship Type="http://schemas.openxmlformats.org/officeDocument/2006/relationships/slide" Target="/ppt/slides/slide23.xml" Id="Rbc0a931b6ae841e5" /><Relationship Type="http://schemas.openxmlformats.org/officeDocument/2006/relationships/slide" Target="/ppt/slides/slide24.xml" Id="R7abcd94d1fad4998" /><Relationship Type="http://schemas.openxmlformats.org/officeDocument/2006/relationships/slide" Target="/ppt/slides/slide25.xml" Id="Re4676bd74a564c30" /><Relationship Type="http://schemas.openxmlformats.org/officeDocument/2006/relationships/slide" Target="/ppt/slides/slide26.xml" Id="R1a1b87303d5b42dd" /><Relationship Type="http://schemas.openxmlformats.org/officeDocument/2006/relationships/slide" Target="/ppt/slides/slide27.xml" Id="R1a67cbd526b1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bafae236e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5993f027b4488" /><Relationship Type="http://schemas.openxmlformats.org/officeDocument/2006/relationships/notesMaster" Target="/ppt/notesMasters/notesMaster1.xml" Id="Rc57182f5193d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f247a36984fcd" /><Relationship Type="http://schemas.openxmlformats.org/officeDocument/2006/relationships/notesMaster" Target="/ppt/notesMasters/notesMaster1.xml" Id="R191824eb8d42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d72327aff4659" /><Relationship Type="http://schemas.openxmlformats.org/officeDocument/2006/relationships/notesMaster" Target="/ppt/notesMasters/notesMaster1.xml" Id="R949cacccedf241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e908bc8244183" /><Relationship Type="http://schemas.openxmlformats.org/officeDocument/2006/relationships/notesMaster" Target="/ppt/notesMasters/notesMaster1.xml" Id="Rae5fd5dba6e9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8cdb32eb044a4" /><Relationship Type="http://schemas.openxmlformats.org/officeDocument/2006/relationships/notesMaster" Target="/ppt/notesMasters/notesMaster1.xml" Id="R64f4e6b7ddcb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eae32cdcd4f96" /><Relationship Type="http://schemas.openxmlformats.org/officeDocument/2006/relationships/notesMaster" Target="/ppt/notesMasters/notesMaster1.xml" Id="Re092d72bbc20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a887b33ea44d92" /><Relationship Type="http://schemas.openxmlformats.org/officeDocument/2006/relationships/notesMaster" Target="/ppt/notesMasters/notesMaster1.xml" Id="Rac4e7fed73b7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8d466e0cb343ce" /><Relationship Type="http://schemas.openxmlformats.org/officeDocument/2006/relationships/notesMaster" Target="/ppt/notesMasters/notesMaster1.xml" Id="R05f7618b2a2941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16a89d2aa74cdd" /><Relationship Type="http://schemas.openxmlformats.org/officeDocument/2006/relationships/notesMaster" Target="/ppt/notesMasters/notesMaster1.xml" Id="R4fc46fa36bab41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f7f6adba984654" /><Relationship Type="http://schemas.openxmlformats.org/officeDocument/2006/relationships/notesMaster" Target="/ppt/notesMasters/notesMaster1.xml" Id="Rbd5b53e797e445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bec8ebf3134c2e" /><Relationship Type="http://schemas.openxmlformats.org/officeDocument/2006/relationships/notesMaster" Target="/ppt/notesMasters/notesMaster1.xml" Id="R82182a1ccd7641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4e1951eac54785" /><Relationship Type="http://schemas.openxmlformats.org/officeDocument/2006/relationships/notesMaster" Target="/ppt/notesMasters/notesMaster1.xml" Id="Rd0cd8d34b61649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a25300b7e9426b" /><Relationship Type="http://schemas.openxmlformats.org/officeDocument/2006/relationships/notesMaster" Target="/ppt/notesMasters/notesMaster1.xml" Id="R59750c7af2fb46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9db873174d427a" /><Relationship Type="http://schemas.openxmlformats.org/officeDocument/2006/relationships/notesMaster" Target="/ppt/notesMasters/notesMaster1.xml" Id="R199425f93b2548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a987f02e014c08" /><Relationship Type="http://schemas.openxmlformats.org/officeDocument/2006/relationships/notesMaster" Target="/ppt/notesMasters/notesMaster1.xml" Id="R45854a604d514b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f6e0317495425c" /><Relationship Type="http://schemas.openxmlformats.org/officeDocument/2006/relationships/notesMaster" Target="/ppt/notesMasters/notesMaster1.xml" Id="Rc06db529abf74c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4124719df2455d" /><Relationship Type="http://schemas.openxmlformats.org/officeDocument/2006/relationships/notesMaster" Target="/ppt/notesMasters/notesMaster1.xml" Id="Rc8950b758e5f41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56b546a2844c56" /><Relationship Type="http://schemas.openxmlformats.org/officeDocument/2006/relationships/notesMaster" Target="/ppt/notesMasters/notesMaster1.xml" Id="Re735c882541146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a8f5b6743b4c93" /><Relationship Type="http://schemas.openxmlformats.org/officeDocument/2006/relationships/notesMaster" Target="/ppt/notesMasters/notesMaster1.xml" Id="R0a62903ac5644c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f2dd3b138b4312" /><Relationship Type="http://schemas.openxmlformats.org/officeDocument/2006/relationships/notesMaster" Target="/ppt/notesMasters/notesMaster1.xml" Id="Rf635ccf42a6d47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196c5ef28748d2" /><Relationship Type="http://schemas.openxmlformats.org/officeDocument/2006/relationships/notesMaster" Target="/ppt/notesMasters/notesMaster1.xml" Id="Rf53f3b9fb06244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909a5d4f3a46f2" /><Relationship Type="http://schemas.openxmlformats.org/officeDocument/2006/relationships/notesMaster" Target="/ppt/notesMasters/notesMaster1.xml" Id="R6bebdf93659846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a54fc30cce4121" /><Relationship Type="http://schemas.openxmlformats.org/officeDocument/2006/relationships/notesMaster" Target="/ppt/notesMasters/notesMaster1.xml" Id="Rd4583833e78b43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13dc130d624259" /><Relationship Type="http://schemas.openxmlformats.org/officeDocument/2006/relationships/notesMaster" Target="/ppt/notesMasters/notesMaster1.xml" Id="R2f1feeb793a547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68b9190dc94aac" /><Relationship Type="http://schemas.openxmlformats.org/officeDocument/2006/relationships/notesMaster" Target="/ppt/notesMasters/notesMaster1.xml" Id="R70707fa6002349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bc421a44f84575" /><Relationship Type="http://schemas.openxmlformats.org/officeDocument/2006/relationships/notesMaster" Target="/ppt/notesMasters/notesMaster1.xml" Id="R31d914510f2f4d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f11896d2b374e3b" /><Relationship Type="http://schemas.openxmlformats.org/officeDocument/2006/relationships/notesMaster" Target="/ppt/notesMasters/notesMaster1.xml" Id="R0488ee2b644c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ask students what happens when we copy a value into another variable. Today we will contrast a value, its address, and a way to access it indirectly. The source is the supplied five-page Revision Sheet by Dr. Mahmoud Alnamoly.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Spend about 2 minutes on this map. Tell students each topic will have a small prediction exercise before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does the address equal 10? No. The printed address varies by run and machine. Show a simple analogy: value is the item, address is its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line by line. int* says ptr can point to an int. &amp;number produces an address. The actual address varies; only equality of &amp;number and ptr matters. Ask students to predict each output before revealing the 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star in each line. The same character has a declaration role and a dereference role. Ask: what does &amp;number give? An address. What does *ptr give? A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before the output and ask students what number becomes. Distinguish changing ptr, which changes where it points, from changing *ptr, which changes the value at that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nullptr is the modern C++ null pointer literal. The if statement guards dereferencing. Do not demonstrate an actual crash as a required outcome because behavior is undefined.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three adjacent elements on the board if helpful. Ask whether p+3 can be dereferenced: no, that is beyond the array. Pointer movement scales with the pointed-to 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from pp to p to number. &amp;p is the address of the pointer variable. One dereference of pp yields p; two dereferences yield number's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30 seconds. Answer: 10 10. Both expressions read the same int after the change through p. Ask one student to justify, not just guess.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x as the parameter and num as the argument. Their values begin equal, but changing x does not change num.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only the signature to the previous slide. Ask what changes in main. Explain that a reference provides another name for the original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parentheses in (*x) += 1. Compare the caller syntax with the reference example. A pointer parameter can be null, so functions that accept null should check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comparison after students have seen each case. Ask which signature best communicates that an argument may be absent: pointer. Clarify the results depend on each increment implementation shown previously.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an int the performance benefit is small; the source example uses int to keep syntax simple. Explain that const protects against editing through this reference, not all possible modifications to the original elsewhere.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happens if the caller supplies a name. The default is used only when the argument is omitted. In full programs include &lt;string&gt; and appropriate namespace qualifications or using declarations.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sheet passes int arr[] and size. The const addition prevents accidental edits because this function only prints. Explain that the parameter behaves like a pointer to the first element. Ask why the loop condition is i &lt;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element index 1 selects. Explain that the array must still exist and index must be valid. Do not return a reference to a local variable that disappears when the function returns.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completes the source sheet's example by adding the caller and delete. State that modern code usually favors automatic storage or smart pointers, but students need to recognize new/delete in this revision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values createArray(3) writes: 1, 2, 3. Explain that delete[] differs from delete. Modern C++ often uses std::vector for variable-sized arrays.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returned pointer points to first or second, neither is allocated by getMax. If equal, this version returns b. Contrast with returning &amp;local, which dangles after the function 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incorrect code shown for diagnosis. Do not run it expecting a stable outcome. Ask students to identify why createNumber works while this function does not: new creates dynamic storage, local has automatic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we do not want three near-identical Box classes. T is a placeholder for a type, not a runtime variable.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one substitution with T=int. Then point out the constructor, setter, and const getter. This is a compact teaching version of the Box class in the source, preserving its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name T in each construction. For a complete program, combine this example with the Box definition and include &lt;iostream&gt; and &lt;string&gt;.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answers: 6; dereferencing nullptr is invalid; delete[] p; for Box&lt;char&gt;, use Box&lt;char&gt; letter('A') and cout &lt;&lt; letter.getValue(). Give 3-5 minutes for pairs, then invite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rapid questions: what is the output of *p if p points to an int holding 7? What is the matching release for new[]? What changes between Box&lt;int&gt; and Box&lt;string&gt;? Invite students to revisit the practice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ff3cefc5044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36a0fa8ac4636" /><Relationship Type="http://schemas.openxmlformats.org/officeDocument/2006/relationships/slideLayout" Target="/ppt/slideLayouts/slideLayout1.xml" Id="R91fccbb670a448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ccbb670a448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a0a47eefb4877" /><Relationship Type="http://schemas.openxmlformats.org/officeDocument/2006/relationships/notesSlide" Target="/ppt/notesSlides/notesSlide1.xml" Id="R9bbfcfd5c8b748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b3f48134a41d2" /><Relationship Type="http://schemas.openxmlformats.org/officeDocument/2006/relationships/notesSlide" Target="/ppt/notesSlides/notesSlide2.xml" Id="R2f6c456fe31f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9c6ccc52493b" /><Relationship Type="http://schemas.openxmlformats.org/officeDocument/2006/relationships/notesSlide" Target="/ppt/notesSlides/notesSlide3.xml" Id="Rbe632c263eb8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1fb3e7b441ff" /><Relationship Type="http://schemas.openxmlformats.org/officeDocument/2006/relationships/notesSlide" Target="/ppt/notesSlides/notesSlide4.xml" Id="R14cecb7687b5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a79d6c1fc49ea" /><Relationship Type="http://schemas.openxmlformats.org/officeDocument/2006/relationships/notesSlide" Target="/ppt/notesSlides/notesSlide5.xml" Id="Ra4c0b4e3d18a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bec9d31f64314" /><Relationship Type="http://schemas.openxmlformats.org/officeDocument/2006/relationships/notesSlide" Target="/ppt/notesSlides/notesSlide6.xml" Id="R2517d4fb1d8245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53e76ecb24c6c" /><Relationship Type="http://schemas.openxmlformats.org/officeDocument/2006/relationships/notesSlide" Target="/ppt/notesSlides/notesSlide7.xml" Id="R508791d39deb40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c216733b34522" /><Relationship Type="http://schemas.openxmlformats.org/officeDocument/2006/relationships/notesSlide" Target="/ppt/notesSlides/notesSlide8.xml" Id="Rf04a1d3ae94d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fe0c35598464f" /><Relationship Type="http://schemas.openxmlformats.org/officeDocument/2006/relationships/notesSlide" Target="/ppt/notesSlides/notesSlide9.xml" Id="R569eb7b32ea846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8b56332cb4f08" /><Relationship Type="http://schemas.openxmlformats.org/officeDocument/2006/relationships/notesSlide" Target="/ppt/notesSlides/notesSlide10.xml" Id="R91a5ddc930a542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71f898e50402b" /><Relationship Type="http://schemas.openxmlformats.org/officeDocument/2006/relationships/notesSlide" Target="/ppt/notesSlides/notesSlide11.xml" Id="Rc87a77c2bd59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ddcfc4ef4043" /><Relationship Type="http://schemas.openxmlformats.org/officeDocument/2006/relationships/notesSlide" Target="/ppt/notesSlides/notesSlide12.xml" Id="R9348730ddacb45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5b8f3a1114fb5" /><Relationship Type="http://schemas.openxmlformats.org/officeDocument/2006/relationships/notesSlide" Target="/ppt/notesSlides/notesSlide13.xml" Id="R217dce82079741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2bb7bd6f46eb" /><Relationship Type="http://schemas.openxmlformats.org/officeDocument/2006/relationships/notesSlide" Target="/ppt/notesSlides/notesSlide14.xml" Id="R6ec577a12cad49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2c84ae4b400f" /><Relationship Type="http://schemas.openxmlformats.org/officeDocument/2006/relationships/notesSlide" Target="/ppt/notesSlides/notesSlide15.xml" Id="R62e22be1be754b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a54ada95a40b2" /><Relationship Type="http://schemas.openxmlformats.org/officeDocument/2006/relationships/notesSlide" Target="/ppt/notesSlides/notesSlide16.xml" Id="R308e825aa6bf4a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a2be8d8b74ae1" /><Relationship Type="http://schemas.openxmlformats.org/officeDocument/2006/relationships/notesSlide" Target="/ppt/notesSlides/notesSlide17.xml" Id="R2573ac80b8b848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a6bf13b0146d8" /><Relationship Type="http://schemas.openxmlformats.org/officeDocument/2006/relationships/notesSlide" Target="/ppt/notesSlides/notesSlide18.xml" Id="R87afdab4e9c748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b42a8e8164f55" /><Relationship Type="http://schemas.openxmlformats.org/officeDocument/2006/relationships/notesSlide" Target="/ppt/notesSlides/notesSlide19.xml" Id="Re50477c0bba145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766fea906477e" /><Relationship Type="http://schemas.openxmlformats.org/officeDocument/2006/relationships/notesSlide" Target="/ppt/notesSlides/notesSlide20.xml" Id="R4a65d522fdc34f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5fd9c26949e2" /><Relationship Type="http://schemas.openxmlformats.org/officeDocument/2006/relationships/notesSlide" Target="/ppt/notesSlides/notesSlide21.xml" Id="Reb68ae54252744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e28cc2d79438c" /><Relationship Type="http://schemas.openxmlformats.org/officeDocument/2006/relationships/notesSlide" Target="/ppt/notesSlides/notesSlide22.xml" Id="R30f95f2db1f940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4f90f39894ee6" /><Relationship Type="http://schemas.openxmlformats.org/officeDocument/2006/relationships/notesSlide" Target="/ppt/notesSlides/notesSlide23.xml" Id="Rda9e53761ca149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33e4bb1e9479e" /><Relationship Type="http://schemas.openxmlformats.org/officeDocument/2006/relationships/notesSlide" Target="/ppt/notesSlides/notesSlide24.xml" Id="R2ca214e5ac6c40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b3d6230704f62" /><Relationship Type="http://schemas.openxmlformats.org/officeDocument/2006/relationships/notesSlide" Target="/ppt/notesSlides/notesSlide25.xml" Id="Rdeefdbcc9a8a4b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c5700be8042fa" /><Relationship Type="http://schemas.openxmlformats.org/officeDocument/2006/relationships/notesSlide" Target="/ppt/notesSlides/notesSlide26.xml" Id="R331f547b388b440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0092b1e6643ff" /><Relationship Type="http://schemas.openxmlformats.org/officeDocument/2006/relationships/notesSlide" Target="/ppt/notesSlides/notesSlide27.xml" Id="Re3fe72e8b0f94e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EAC9-5BF8-427F-9637-68850471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668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C++ Revision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Pointers, functions and templates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51C7-567A-413D-B5AC-EBE16B19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7E6EF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7E6EF"/>
                </a:solidFill>
                <a:latin typeface="Aptos"/>
                <a:ea typeface="Aptos"/>
                <a:cs typeface="Aptos"/>
              </a:rPr>
              <a:t>A beginner-friendly practical 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4ACA-2E52-457A-BDAE-7993284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1D4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1D4E1"/>
                </a:solidFill>
                <a:latin typeface="Aptos"/>
                <a:ea typeface="Aptos"/>
                <a:cs typeface="Aptos"/>
              </a:rPr>
              <a:t>Based on the supplied Revision Sheet</a:t>
            </a:r>
          </a:p>
        </p:txBody>
      </p:sp>
    </p:spTree>
    <p:extLst>
      <p:ext uri="{BB962C8B-B14F-4D97-AF65-F5344CB8AC3E}">
        <p14:creationId xmlns:p14="http://schemas.microsoft.com/office/powerpoint/2010/main" val="1128417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863DF-EB39-476E-9020-D2EF865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What students will 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4A0B2-7774-4E5A-B9AE-7EABAAB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Lesson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03399-7CD4-496C-8162-83720DC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3822F-D0C2-453A-8054-4992521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1. Read and change a value through a pointer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1B91B-4598-4ADB-9770-40EB6D4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2. Predict what a function call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3DF6B-9C64-4CD0-8539-412CB856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3. Return data safely from a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5EA3B-C5E6-4152-907F-93BDC893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4. Use one template class with several types</a:t>
            </a:r>
          </a:p>
        </p:txBody>
      </p:sp>
    </p:spTree>
    <p:extLst>
      <p:ext uri="{BB962C8B-B14F-4D97-AF65-F5344CB8AC3E}">
        <p14:creationId xmlns:p14="http://schemas.microsoft.com/office/powerpoint/2010/main" val="1899683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EF830-61BD-4896-BB65-030FA1BE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variable has a value and an address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2968D-7176-4AB3-A9EE-373889BE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C428-4BA7-4357-A6A4-386834F9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DFB0-3F32-40AB-A608-7B175A6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number = 10;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3DB16-07E3-4626-9D4F-8F042AB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number holds the value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17207-1762-4B02-9C03-88A3AFF4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&amp;number asks for its memory address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6B81D-017B-42D2-B6BE-CEADE50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An address is where the variable lives in memory.</a:t>
            </a:r>
          </a:p>
        </p:txBody>
      </p:sp>
    </p:spTree>
    <p:extLst>
      <p:ext uri="{BB962C8B-B14F-4D97-AF65-F5344CB8AC3E}">
        <p14:creationId xmlns:p14="http://schemas.microsoft.com/office/powerpoint/2010/main" val="165483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8CD35-BB1A-43C0-A163-EBE72F5A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pointer stores an address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ED794-7932-4E21-B7BE-F366B066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32C7F-87C7-44BA-B1B9-B8CB2593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5A0D5-29D7-4349-9B9E-3C59AAC9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number = 10;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ptr = &amp;number;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number;   // 10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&amp;number;  // address of number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ptr;      // same address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*ptr;     // 10</a:t>
            </a:r>
          </a:p>
        </p:txBody>
      </p:sp>
    </p:spTree>
    <p:extLst>
      <p:ext uri="{BB962C8B-B14F-4D97-AF65-F5344CB8AC3E}">
        <p14:creationId xmlns:p14="http://schemas.microsoft.com/office/powerpoint/2010/main" val="1491632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FFFD7-1678-449C-9C10-9DD2BDFD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two meanings of *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2DD78-F948-4BB1-827B-EC6732E5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5E1E9-5393-4719-BB24-B063CA68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D1490-3E36-403F-98FD-63670C5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192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ptr = &amp;number;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B88C1-4600-4DAB-B3E4-57DE196E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765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In a declaration: ptr is a pointer to 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F4B3D-F755-42A9-A429-3775082C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6712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*ptr;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3FBF8-6D92-44FA-83A3-A359DD0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577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In an expression: follow ptr to read the int</a:t>
            </a:r>
          </a:p>
        </p:txBody>
      </p:sp>
    </p:spTree>
    <p:extLst>
      <p:ext uri="{BB962C8B-B14F-4D97-AF65-F5344CB8AC3E}">
        <p14:creationId xmlns:p14="http://schemas.microsoft.com/office/powerpoint/2010/main" val="1767473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F6C87-EA8D-4C1C-A4C9-2387672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pointer can change the original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E81A3-4BFC-4923-8427-CB6A84FB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48BB-AE4D-4CED-B884-957B7EB2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D218-1E85-4359-804B-D30E7BA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1447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number = 10;</a:t>
            </a:r>
          </a:p>
          <a:p xmlns:a="http://schemas.openxmlformats.org/drawingml/2006/main">
            <a:pPr algn="l">
              <a:def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ptr = &amp;number;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*ptr = 20;</a:t>
            </a:r>
          </a:p>
          <a:p xmlns:a="http://schemas.openxmlformats.org/drawingml/2006/main">
            <a:pPr algn="l">
              <a:def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number;  // 20</a:t>
            </a:r>
          </a:p>
          <a:p xmlns:a="http://schemas.openxmlformats.org/drawingml/2006/main">
            <a:pPr algn="l">
              <a:def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*ptr;    //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EB421-1067-4B3A-B1DA-B70454C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*ptr and number reach the same int.</a:t>
            </a:r>
          </a:p>
        </p:txBody>
      </p:sp>
    </p:spTree>
    <p:extLst>
      <p:ext uri="{BB962C8B-B14F-4D97-AF65-F5344CB8AC3E}">
        <p14:creationId xmlns:p14="http://schemas.microsoft.com/office/powerpoint/2010/main" val="1543947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053CF-4D0F-4639-9F63-AE8D8196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nullptr means no valid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DBF22-F1CA-4707-B499-598982C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368DF-8423-4B02-ACEE-2B07537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03DA2-9F26-4CA0-905A-FAC074C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ptr = nullptr;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if (ptr != nullptr) {</a:t>
            </a:r>
          </a:p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cout &lt;&lt; *ptr;</a:t>
            </a:r>
          </a:p>
          <a:p xmlns:a="http://schemas.openxmlformats.org/drawingml/2006/main">
            <a:pPr algn="l">
              <a:def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947CD-F523-4C25-80C0-BAB5E56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Do not dereference a null pointer.</a:t>
            </a:r>
          </a:p>
        </p:txBody>
      </p:sp>
    </p:spTree>
    <p:extLst>
      <p:ext uri="{BB962C8B-B14F-4D97-AF65-F5344CB8AC3E}">
        <p14:creationId xmlns:p14="http://schemas.microsoft.com/office/powerpoint/2010/main" val="322388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61465-8105-4721-A85D-40B12184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Pointer arithmetic follows the element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A0FC5-20C2-46BF-AE4C-68162297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7F6C5-B587-4455-A508-C6B946D6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FB5BC-BB46-4646-9951-8D5A77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data[] = {4, 8, 12};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 = data;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*p;       // 4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*(p + 1); // 8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*(p + 2); //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0DDD-9AB9-4C71-8CBE-E50EDD3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p + 1 moves to the next int element, not the next byte.</a:t>
            </a:r>
          </a:p>
        </p:txBody>
      </p:sp>
    </p:spTree>
    <p:extLst>
      <p:ext uri="{BB962C8B-B14F-4D97-AF65-F5344CB8AC3E}">
        <p14:creationId xmlns:p14="http://schemas.microsoft.com/office/powerpoint/2010/main" val="559575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1B35D-B441-43B9-8D78-23A02FF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pointer can point to another pointer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5E81F-9EA1-49AE-A0E0-79A801C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B723E-8CB1-412B-89E8-1B43FAE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ECA7-1992-4433-BC7A-1590CC10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number = 10;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 = &amp;number;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int** pp = &amp;p;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number; // 10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*p;     // 10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**pp;   // 10</a:t>
            </a:r>
          </a:p>
        </p:txBody>
      </p:sp>
    </p:spTree>
    <p:extLst>
      <p:ext uri="{BB962C8B-B14F-4D97-AF65-F5344CB8AC3E}">
        <p14:creationId xmlns:p14="http://schemas.microsoft.com/office/powerpoint/2010/main" val="100057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BEA9-6584-4111-AA59-8068AD9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Pointer prediction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E8628-8E36-4D48-BBF9-11EB3C6E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5AE40-25C8-4692-A7CA-90F1C6A8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B675C-23B0-4F53-B64C-FC84659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a = 7;</a:t>
            </a:r>
          </a:p>
          <a:p xmlns:a="http://schemas.openxmlformats.org/drawingml/2006/main">
            <a:pPr algn="l">
              <a:def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 = &amp;a;</a:t>
            </a:r>
          </a:p>
          <a:p xmlns:a="http://schemas.openxmlformats.org/drawingml/2006/main">
            <a:pPr algn="l">
              <a:def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*p +=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a &lt;&lt; " " &lt;&lt; *p;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255BA-228E-431C-B1D1-ACBF2EC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D7B4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D7B46"/>
                </a:solidFill>
                <a:latin typeface="Aptos"/>
                <a:ea typeface="Aptos"/>
                <a:cs typeface="Aptos"/>
              </a:rPr>
              <a:t>What prints, and why?</a:t>
            </a:r>
          </a:p>
        </p:txBody>
      </p:sp>
    </p:spTree>
    <p:extLst>
      <p:ext uri="{BB962C8B-B14F-4D97-AF65-F5344CB8AC3E}">
        <p14:creationId xmlns:p14="http://schemas.microsoft.com/office/powerpoint/2010/main" val="1125933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0C4CA-B01C-42D1-9D2B-7EC4EC12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Pass by value copies the argument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4DF24-BA00-4B89-B261-441F69C2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F31B2-3588-4CE9-B5AD-1934791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6C955-E5BA-4DDE-A55C-F2E9A57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increment(int x) {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x += 1;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 = 5;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increment(num);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num;  //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F3105-41FD-4632-84A5-5B9FB3B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function changes its local copy.</a:t>
            </a:r>
          </a:p>
        </p:txBody>
      </p:sp>
    </p:spTree>
    <p:extLst>
      <p:ext uri="{BB962C8B-B14F-4D97-AF65-F5344CB8AC3E}">
        <p14:creationId xmlns:p14="http://schemas.microsoft.com/office/powerpoint/2010/main" val="2011101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0283C-34DA-48A1-9EBD-A5939F7D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Pass by reference uses the original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37BDC-7730-42B5-ACAE-6416A10F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19B67-226E-472A-A0D4-29F0F78E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F38F0-FB00-4613-A1D4-61A2D00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increment(int&amp; x) {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x += 1;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 = 5;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increment(num);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num;  //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2C730-F409-4704-B972-41B0F58B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&amp; in int&amp; makes x a reference to num.</a:t>
            </a:r>
          </a:p>
        </p:txBody>
      </p:sp>
    </p:spTree>
    <p:extLst>
      <p:ext uri="{BB962C8B-B14F-4D97-AF65-F5344CB8AC3E}">
        <p14:creationId xmlns:p14="http://schemas.microsoft.com/office/powerpoint/2010/main" val="15291965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ADD1B-B8A2-474A-B361-F790B3B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Pass by pointer gives the address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EDB69-AF12-4964-8784-246507D3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0B721-EC6A-49FA-95C2-60204F8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C1ABB-643D-445F-9094-9E80A0C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increment(int* x) {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(*x) += 1;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 = 5;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increment(&amp;num);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num;  //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D1A3D-6807-4AD1-8D9B-C2A3D5A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caller passes &amp;num, and the function changes *x.</a:t>
            </a:r>
          </a:p>
        </p:txBody>
      </p:sp>
    </p:spTree>
    <p:extLst>
      <p:ext uri="{BB962C8B-B14F-4D97-AF65-F5344CB8AC3E}">
        <p14:creationId xmlns:p14="http://schemas.microsoft.com/office/powerpoint/2010/main" val="932272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1F32B-B3BD-4D56-9727-50473158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Three ways to pass an 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C4FC-DF97-4BE9-83F7-87270869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64E35-0F8B-4617-86E5-8FF64FB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B6A16-428E-4BD5-8D4D-77E2B2A3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17324D"/>
                </a:solidFill>
                <a:latin typeface="DejaVu Sans Mono"/>
                <a:ea typeface="DejaVu Sans Mono"/>
                <a:cs typeface="DejaVu Sans Mono"/>
              </a:rPr>
              <a:t>Function parameter                    Call                  After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E7362-EE41-4F9A-B31A-1034C5C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rPr>
              <a:t>int x             increment(num)            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B2E22-09AE-4D56-86B0-BB384F94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52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rPr>
              <a:t>int&amp; x            increment(num)            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6EE7A-5C1C-4996-9C1F-E5CFB0ED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253748"/>
                </a:solidFill>
                <a:latin typeface="DejaVu Sans Mono"/>
                <a:ea typeface="DejaVu Sans Mono"/>
                <a:cs typeface="DejaVu Sans Mono"/>
              </a:rPr>
              <a:t>int* x            increment(&amp;num)           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92D9-A157-4C47-9E3C-1E757FE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48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Each example starts with num = 5.</a:t>
            </a:r>
          </a:p>
        </p:txBody>
      </p:sp>
    </p:spTree>
    <p:extLst>
      <p:ext uri="{BB962C8B-B14F-4D97-AF65-F5344CB8AC3E}">
        <p14:creationId xmlns:p14="http://schemas.microsoft.com/office/powerpoint/2010/main" val="3439044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C17BF-2317-4299-B87A-1BE65D63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Const reference allows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744F9-CFD9-41F5-BAD6-AF9F3AB3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8B55A-885A-4EBF-97C8-EAADC47D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62DB-4A4F-4706-830F-82C27E23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printValue(const int&amp; x) {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cout &lt;&lt; x;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// x += 1;  // not allowed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num = 5;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printValue(num);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4CEB9-30C4-45A7-A834-99182EED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For a large object, const T&amp; avoids a copy and prevents edits through x.</a:t>
            </a:r>
          </a:p>
        </p:txBody>
      </p:sp>
    </p:spTree>
    <p:extLst>
      <p:ext uri="{BB962C8B-B14F-4D97-AF65-F5344CB8AC3E}">
        <p14:creationId xmlns:p14="http://schemas.microsoft.com/office/powerpoint/2010/main" val="12055351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5975A-FD01-4BC1-BABF-44D16EF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default argument fills a missing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6A394-722E-441B-A8C8-229AE2DF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4F544-CE28-49E1-90AB-9DA78DEC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F479-A6BD-4FC4-801F-19D0D499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greet(string name = "Guest") {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cout &lt;&lt; "Hello, " &lt;&lt; name &lt;&lt; "!";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greet();        // Hello, Guest!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greet("Alice"); // Hello, Alice!</a:t>
            </a:r>
          </a:p>
        </p:txBody>
      </p:sp>
    </p:spTree>
    <p:extLst>
      <p:ext uri="{BB962C8B-B14F-4D97-AF65-F5344CB8AC3E}">
        <p14:creationId xmlns:p14="http://schemas.microsoft.com/office/powerpoint/2010/main" val="19061336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18D80-41E5-40A5-86DE-B649F5AA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An array function also needs its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6A434-095F-4909-B2D9-A2C6A10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9491E-69A6-4476-99B6-1C71A524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02C25-8344-4562-8E3F-AEA2153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void printArray(const int arr[], int size) {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for (int i = 0; i &lt; size; ++i)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    cout &lt;&lt; arr[i] &lt;&lt; " ";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values[] = {1, 2, 3, 4, 5};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printArray(values, 5);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6CA81-3D5A-453B-A363-75727A6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A raw array parameter does not carry its length.</a:t>
            </a:r>
          </a:p>
        </p:txBody>
      </p:sp>
    </p:spTree>
    <p:extLst>
      <p:ext uri="{BB962C8B-B14F-4D97-AF65-F5344CB8AC3E}">
        <p14:creationId xmlns:p14="http://schemas.microsoft.com/office/powerpoint/2010/main" val="9091852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F8639-1644-48B2-A0D3-FDA2D11C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function can return an array element by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8A7F-BE89-43AD-B79C-6CFEF13C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C5358-B0B0-4852-8CA4-7505726B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60D2E-FEB4-4C36-A14F-48192D62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int&amp; getElement(int arr[], int index) {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return arr[index];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arr[] = {1, 2, 3};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getElement(arr, 1) = 10;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arr[1];  //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EDA1-FEDE-4A97-AFDD-A4879E7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returned reference names arr[1] itself.</a:t>
            </a:r>
          </a:p>
        </p:txBody>
      </p:sp>
    </p:spTree>
    <p:extLst>
      <p:ext uri="{BB962C8B-B14F-4D97-AF65-F5344CB8AC3E}">
        <p14:creationId xmlns:p14="http://schemas.microsoft.com/office/powerpoint/2010/main" val="283680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568A-82E5-45BC-A2A0-837823D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Dynamic memory needs a matching delete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0162D-73C8-47C2-9D21-FE8669D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Returns and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F0C9E-0063-4B81-A996-4228E9F3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137D1-1F2E-4629-8EFD-9DBE99F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createNumber() {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int* p = new int;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*p = 42;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return p;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result = createNumber();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*result;  // 42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delete result;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40C45-48A0-44BF-A6A5-A877CDAC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caller owns the allocated int and releases it.</a:t>
            </a:r>
          </a:p>
        </p:txBody>
      </p:sp>
    </p:spTree>
    <p:extLst>
      <p:ext uri="{BB962C8B-B14F-4D97-AF65-F5344CB8AC3E}">
        <p14:creationId xmlns:p14="http://schemas.microsoft.com/office/powerpoint/2010/main" val="1288223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6F1EB-C8DD-4DEC-886A-569C27E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Dynamic arrays use delete[]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42908-B711-46CB-8431-6F9252F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Returns and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3CB02-B260-4E66-AC82-84707A2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4669-4F45-40E9-93FC-0FC5308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createArray(int size) {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int* arr = new int[size];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for (int i = 0; i &lt; size; ++i)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    arr[i] = i + 1;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return arr;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a = createArray(3);</a:t>
            </a:r>
          </a:p>
          <a:p xmlns:a="http://schemas.openxmlformats.org/drawingml/2006/main">
            <a:pPr algn="l">
              <a:def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delete[] a;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77751-6B99-4A74-9F4B-75AE634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Match new[] with delete[].</a:t>
            </a:r>
          </a:p>
        </p:txBody>
      </p:sp>
    </p:spTree>
    <p:extLst>
      <p:ext uri="{BB962C8B-B14F-4D97-AF65-F5344CB8AC3E}">
        <p14:creationId xmlns:p14="http://schemas.microsoft.com/office/powerpoint/2010/main" val="2797513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1D72E-F809-4674-842C-4CF5C404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Returning an existing address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FBDF-78A4-4E80-826B-07A6CEA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6DE1E-9D61-4760-B658-2DF85F6C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B9D8C-1D05-41BF-8AAA-7E4A8AAF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getMax(int&amp; a, int&amp; b) {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return (a &gt; b) ? &amp;a : &amp;b;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 first = 10, second = 20;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p = getMax(first, second);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*p;  //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88CB-3DBF-4815-8063-FF63A71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The caller's variables must outlive the returned pointer.</a:t>
            </a:r>
          </a:p>
        </p:txBody>
      </p:sp>
    </p:spTree>
    <p:extLst>
      <p:ext uri="{BB962C8B-B14F-4D97-AF65-F5344CB8AC3E}">
        <p14:creationId xmlns:p14="http://schemas.microsoft.com/office/powerpoint/2010/main" val="6569546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C11E6-B5C7-4709-9ABA-3F34DAF8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dangerous return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5628E-C064-467A-945E-3EBB5B18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16BCF-D9DC-40BB-9D35-D2F150B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E6FE-BBCF-49BC-9C01-EAA7B7B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int* badExample() {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int local = 5;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return &amp;local;  // invalid after return</a:t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// Never dereference the returned pointer.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D552-3834-41BE-9DD4-87D75F7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Local variables stop existing when their function returns.</a:t>
            </a:r>
          </a:p>
        </p:txBody>
      </p:sp>
    </p:spTree>
    <p:extLst>
      <p:ext uri="{BB962C8B-B14F-4D97-AF65-F5344CB8AC3E}">
        <p14:creationId xmlns:p14="http://schemas.microsoft.com/office/powerpoint/2010/main" val="4582641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4F054-ECB4-4617-858A-148E1B85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template lets one class handle many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6F0BE-DC4B-44B1-9986-C35716EA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Templates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1CF6A-5B1E-4143-B309-F68F7E4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DE350-5C81-40B7-886F-CE8659D7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Box&lt;int&gt;        Box&lt;double&gt;        Box&lt;string&gt;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05730-2652-41FC-996F-42371FC1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The class behavior stays the same.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18FB8-5B04-4B78-9556-0618BC08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T stands for the type supplied when we create a 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4F04A-010A-496D-9281-E698DB7E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7F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7F75"/>
                </a:solidFill>
                <a:latin typeface="Aptos"/>
                <a:ea typeface="Aptos"/>
                <a:cs typeface="Aptos"/>
              </a:rPr>
              <a:t>Write the class once, then choose the stored type.</a:t>
            </a:r>
          </a:p>
        </p:txBody>
      </p:sp>
    </p:spTree>
    <p:extLst>
      <p:ext uri="{BB962C8B-B14F-4D97-AF65-F5344CB8AC3E}">
        <p14:creationId xmlns:p14="http://schemas.microsoft.com/office/powerpoint/2010/main" val="1797958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1307D-40DD-4A46-B5CE-E1B3C55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Defining the Box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AF4E0-89CA-4FA5-ADA3-480B5C2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Templates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5617-D459-4144-A952-20CF828A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48CA-BBED-4CB7-B9D7-5DB21DE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107632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template &lt;typename T&gt;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class Box {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T value;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Box(T v) : value(v) {}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void setValue(T v) { value = v; }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    T getValue() const { return value; }</a:t>
            </a:r>
          </a:p>
          <a:p xmlns:a="http://schemas.openxmlformats.org/drawingml/2006/main">
            <a:pPr algn="l">
              <a:def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774505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D194-D954-429F-910A-CCB5DA09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Using the same Box with different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CEB8A-1502-460C-A665-27C05171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Templates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F5EE7-4C95-4730-96D3-05970AF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14FF-6A75-4404-95F3-EF84824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Box&lt;int&gt; count(10);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Box&lt;double&gt; rate(3.14);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Box&lt;string&gt; message("Hello");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count.getValue();   // 10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rate.getValue();    // 3.14</a:t>
            </a:r>
          </a:p>
          <a:p xmlns:a="http://schemas.openxmlformats.org/drawingml/2006/main">
            <a:pPr algn="l">
              <a:def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8364B"/>
                </a:solidFill>
                <a:latin typeface="DejaVu Sans Mono"/>
                <a:ea typeface="DejaVu Sans Mono"/>
                <a:cs typeface="DejaVu Sans Mono"/>
              </a:rPr>
              <a:t>cout &lt;&lt; message.getValue(); // Hello</a:t>
            </a:r>
          </a:p>
        </p:txBody>
      </p:sp>
    </p:spTree>
    <p:extLst>
      <p:ext uri="{BB962C8B-B14F-4D97-AF65-F5344CB8AC3E}">
        <p14:creationId xmlns:p14="http://schemas.microsoft.com/office/powerpoint/2010/main" val="3178025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30386-B827-4723-BCC4-F2330D2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Practice: predict, explain,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4B6AA-D1AD-4DE3-A15C-49220B87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B5AA3-A34F-4DC2-8AF6-CAF8E59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A5AF8-D60F-4C89-B385-9688D1D1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Predict: What prints after increment(int&amp; x) is called with n = 5?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18C3B-7CF2-4648-92C8-C18BA75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Explain: Why does int* p = nullptr; require a check before *p?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6E8E7-406E-4008-A2B0-6451E31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Repair: Which line releases memory from new int[4]?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21E64-171E-4D69-A572-31953D17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Extend: Create Box&lt;char&gt; and print its value.</a:t>
            </a:r>
          </a:p>
        </p:txBody>
      </p:sp>
    </p:spTree>
    <p:extLst>
      <p:ext uri="{BB962C8B-B14F-4D97-AF65-F5344CB8AC3E}">
        <p14:creationId xmlns:p14="http://schemas.microsoft.com/office/powerpoint/2010/main" val="1159593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52F1F-6699-4E0F-BF3E-B0F130B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Key ideas to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F886F-E2BA-4580-BE03-43EB2905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484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E2522-FCD7-4C46-8046-E4984E73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77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789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7351E-14ED-4434-A000-DC915F3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&amp;variable gets an address. *pointer reaches the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A6A67-7DF6-4833-9B09-A5F1F8F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Value copies; reference and pointer can change the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AAED7-FE20-40EB-9497-C36885A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Returned references and pointers need a valid lifetime.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3CF1F-F858-4C4F-923B-3171C1A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374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748"/>
                </a:solidFill>
                <a:latin typeface="Aptos"/>
                <a:ea typeface="Aptos"/>
                <a:cs typeface="Aptos"/>
              </a:rPr>
              <a:t>A template replaces a type placeholder with a chosen type.</a:t>
            </a:r>
          </a:p>
        </p:txBody>
      </p:sp>
    </p:spTree>
    <p:extLst>
      <p:ext uri="{BB962C8B-B14F-4D97-AF65-F5344CB8AC3E}">
        <p14:creationId xmlns:p14="http://schemas.microsoft.com/office/powerpoint/2010/main" val="1440477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2026-09-27T02:09:30.6030000Z</dcterms:created>
  <dcterms:modified xsi:type="dcterms:W3CDTF">2026-09-27T02:09:30.6030000Z</dcterms:modified>
</coreProperties>
</file>