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cd58ae4c934e94" /><Relationship Type="http://schemas.openxmlformats.org/officeDocument/2006/relationships/extended-properties" Target="/docProps/app.xml" Id="R69781e6f050b48d5" /><Relationship Type="http://schemas.openxmlformats.org/officeDocument/2006/relationships/officeDocument" Target="/ppt/presentation.xml" Id="R50afd37bc809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c63a4ec340448d"/>
  </p:sldMasterIdLst>
  <p:notesMasterIdLst>
    <p:notesMasterId xmlns:r="http://schemas.openxmlformats.org/officeDocument/2006/relationships" r:id="R0e9fcc6a66524b7e"/>
  </p:notesMasterIdLst>
  <p:sldIdLst>
    <p:sldId xmlns:r="http://schemas.openxmlformats.org/officeDocument/2006/relationships" id="256" r:id="R6b979f64cd0a4d74"/>
    <p:sldId xmlns:r="http://schemas.openxmlformats.org/officeDocument/2006/relationships" id="257" r:id="Re50924a924bc4007"/>
    <p:sldId xmlns:r="http://schemas.openxmlformats.org/officeDocument/2006/relationships" id="258" r:id="R972105b5d0c74bc7"/>
    <p:sldId xmlns:r="http://schemas.openxmlformats.org/officeDocument/2006/relationships" id="259" r:id="R521daa48f85546ec"/>
    <p:sldId xmlns:r="http://schemas.openxmlformats.org/officeDocument/2006/relationships" id="260" r:id="Rc894e67708de4286"/>
    <p:sldId xmlns:r="http://schemas.openxmlformats.org/officeDocument/2006/relationships" id="261" r:id="Rf16b00d823744548"/>
    <p:sldId xmlns:r="http://schemas.openxmlformats.org/officeDocument/2006/relationships" id="262" r:id="Re838a4debe4a46d4"/>
    <p:sldId xmlns:r="http://schemas.openxmlformats.org/officeDocument/2006/relationships" id="263" r:id="Rdb8e9f690aec4f5b"/>
    <p:sldId xmlns:r="http://schemas.openxmlformats.org/officeDocument/2006/relationships" id="264" r:id="Re3aeadb4b1364fd6"/>
    <p:sldId xmlns:r="http://schemas.openxmlformats.org/officeDocument/2006/relationships" id="265" r:id="R6583288e63aa4672"/>
    <p:sldId xmlns:r="http://schemas.openxmlformats.org/officeDocument/2006/relationships" id="266" r:id="R66f8d1e570a44fd2"/>
    <p:sldId xmlns:r="http://schemas.openxmlformats.org/officeDocument/2006/relationships" id="267" r:id="R140e2ef3212c4875"/>
    <p:sldId xmlns:r="http://schemas.openxmlformats.org/officeDocument/2006/relationships" id="268" r:id="Re3ba2e40af8145e2"/>
    <p:sldId xmlns:r="http://schemas.openxmlformats.org/officeDocument/2006/relationships" id="269" r:id="Rba39c0c228ce4025"/>
    <p:sldId xmlns:r="http://schemas.openxmlformats.org/officeDocument/2006/relationships" id="270" r:id="R38fdef8a43bd40c7"/>
    <p:sldId xmlns:r="http://schemas.openxmlformats.org/officeDocument/2006/relationships" id="271" r:id="Rfc3dce6543bd452c"/>
    <p:sldId xmlns:r="http://schemas.openxmlformats.org/officeDocument/2006/relationships" id="272" r:id="R735ba9268a134e00"/>
    <p:sldId xmlns:r="http://schemas.openxmlformats.org/officeDocument/2006/relationships" id="273" r:id="Rc8f18dfcac43489f"/>
    <p:sldId xmlns:r="http://schemas.openxmlformats.org/officeDocument/2006/relationships" id="274" r:id="R4d3701fb6eb84a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d3fa9d6ac4d78" /><Relationship Type="http://schemas.openxmlformats.org/officeDocument/2006/relationships/slideMaster" Target="/ppt/slideMasters/slideMaster1.xml" Id="Rfac63a4ec340448d" /><Relationship Type="http://schemas.openxmlformats.org/officeDocument/2006/relationships/notesMaster" Target="/ppt/notesMasters/notesMaster1.xml" Id="R0e9fcc6a66524b7e" /><Relationship Type="http://schemas.openxmlformats.org/officeDocument/2006/relationships/presProps" Target="/ppt/presProps.xml" Id="R5e2069d107ec4926" /><Relationship Type="http://schemas.openxmlformats.org/officeDocument/2006/relationships/tableStyles" Target="/ppt/tableStyles.xml" Id="R8116e3f6adf04ab4" /><Relationship Type="http://schemas.openxmlformats.org/officeDocument/2006/relationships/slide" Target="/ppt/slides/slide1.xml" Id="R6b979f64cd0a4d74" /><Relationship Type="http://schemas.openxmlformats.org/officeDocument/2006/relationships/slide" Target="/ppt/slides/slide2.xml" Id="Re50924a924bc4007" /><Relationship Type="http://schemas.openxmlformats.org/officeDocument/2006/relationships/slide" Target="/ppt/slides/slide3.xml" Id="R972105b5d0c74bc7" /><Relationship Type="http://schemas.openxmlformats.org/officeDocument/2006/relationships/slide" Target="/ppt/slides/slide4.xml" Id="R521daa48f85546ec" /><Relationship Type="http://schemas.openxmlformats.org/officeDocument/2006/relationships/slide" Target="/ppt/slides/slide5.xml" Id="Rc894e67708de4286" /><Relationship Type="http://schemas.openxmlformats.org/officeDocument/2006/relationships/slide" Target="/ppt/slides/slide6.xml" Id="Rf16b00d823744548" /><Relationship Type="http://schemas.openxmlformats.org/officeDocument/2006/relationships/slide" Target="/ppt/slides/slide7.xml" Id="Re838a4debe4a46d4" /><Relationship Type="http://schemas.openxmlformats.org/officeDocument/2006/relationships/slide" Target="/ppt/slides/slide8.xml" Id="Rdb8e9f690aec4f5b" /><Relationship Type="http://schemas.openxmlformats.org/officeDocument/2006/relationships/slide" Target="/ppt/slides/slide9.xml" Id="Re3aeadb4b1364fd6" /><Relationship Type="http://schemas.openxmlformats.org/officeDocument/2006/relationships/slide" Target="/ppt/slides/slide10.xml" Id="R6583288e63aa4672" /><Relationship Type="http://schemas.openxmlformats.org/officeDocument/2006/relationships/slide" Target="/ppt/slides/slide11.xml" Id="R66f8d1e570a44fd2" /><Relationship Type="http://schemas.openxmlformats.org/officeDocument/2006/relationships/slide" Target="/ppt/slides/slide12.xml" Id="R140e2ef3212c4875" /><Relationship Type="http://schemas.openxmlformats.org/officeDocument/2006/relationships/slide" Target="/ppt/slides/slide13.xml" Id="Re3ba2e40af8145e2" /><Relationship Type="http://schemas.openxmlformats.org/officeDocument/2006/relationships/slide" Target="/ppt/slides/slide14.xml" Id="Rba39c0c228ce4025" /><Relationship Type="http://schemas.openxmlformats.org/officeDocument/2006/relationships/slide" Target="/ppt/slides/slide15.xml" Id="R38fdef8a43bd40c7" /><Relationship Type="http://schemas.openxmlformats.org/officeDocument/2006/relationships/slide" Target="/ppt/slides/slide16.xml" Id="Rfc3dce6543bd452c" /><Relationship Type="http://schemas.openxmlformats.org/officeDocument/2006/relationships/slide" Target="/ppt/slides/slide17.xml" Id="R735ba9268a134e00" /><Relationship Type="http://schemas.openxmlformats.org/officeDocument/2006/relationships/slide" Target="/ppt/slides/slide18.xml" Id="Rc8f18dfcac43489f" /><Relationship Type="http://schemas.openxmlformats.org/officeDocument/2006/relationships/slide" Target="/ppt/slides/slide19.xml" Id="R4d3701fb6eb8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d05fe0b6ba40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f80d25333463f" /><Relationship Type="http://schemas.openxmlformats.org/officeDocument/2006/relationships/notesMaster" Target="/ppt/notesMasters/notesMaster1.xml" Id="Rabb429e0933c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8f43f84f7468d" /><Relationship Type="http://schemas.openxmlformats.org/officeDocument/2006/relationships/notesMaster" Target="/ppt/notesMasters/notesMaster1.xml" Id="Rdde123e4907943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3e09a273d44cb" /><Relationship Type="http://schemas.openxmlformats.org/officeDocument/2006/relationships/notesMaster" Target="/ppt/notesMasters/notesMaster1.xml" Id="R2904f286db18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2064f90a874d51" /><Relationship Type="http://schemas.openxmlformats.org/officeDocument/2006/relationships/notesMaster" Target="/ppt/notesMasters/notesMaster1.xml" Id="R6f4a912aa886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b80a7ca4d43d6" /><Relationship Type="http://schemas.openxmlformats.org/officeDocument/2006/relationships/notesMaster" Target="/ppt/notesMasters/notesMaster1.xml" Id="R66f617ac21ce4b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65c03a275471e" /><Relationship Type="http://schemas.openxmlformats.org/officeDocument/2006/relationships/notesMaster" Target="/ppt/notesMasters/notesMaster1.xml" Id="R9af439bbcff8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98ea15c2d4d6f" /><Relationship Type="http://schemas.openxmlformats.org/officeDocument/2006/relationships/notesMaster" Target="/ppt/notesMasters/notesMaster1.xml" Id="R0906df114f664d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04f6b3e9d7439e" /><Relationship Type="http://schemas.openxmlformats.org/officeDocument/2006/relationships/notesMaster" Target="/ppt/notesMasters/notesMaster1.xml" Id="R4976239b45b349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227fef8684bba" /><Relationship Type="http://schemas.openxmlformats.org/officeDocument/2006/relationships/notesMaster" Target="/ppt/notesMasters/notesMaster1.xml" Id="Rbd6f1a6ddf714f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12522871e04560" /><Relationship Type="http://schemas.openxmlformats.org/officeDocument/2006/relationships/notesMaster" Target="/ppt/notesMasters/notesMaster1.xml" Id="R362ac74ec79548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b4631d9a554a45" /><Relationship Type="http://schemas.openxmlformats.org/officeDocument/2006/relationships/notesMaster" Target="/ppt/notesMasters/notesMaster1.xml" Id="R371a5b141fba4a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65cc7af9b74fde" /><Relationship Type="http://schemas.openxmlformats.org/officeDocument/2006/relationships/notesMaster" Target="/ppt/notesMasters/notesMaster1.xml" Id="Rdbfd0784c5a849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dd36caffd0496f" /><Relationship Type="http://schemas.openxmlformats.org/officeDocument/2006/relationships/notesMaster" Target="/ppt/notesMasters/notesMaster1.xml" Id="R48e18f7fa6c34e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64beacd1b54579" /><Relationship Type="http://schemas.openxmlformats.org/officeDocument/2006/relationships/notesMaster" Target="/ppt/notesMasters/notesMaster1.xml" Id="Rbbe820b05a3a4d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ca16345e39469c" /><Relationship Type="http://schemas.openxmlformats.org/officeDocument/2006/relationships/notesMaster" Target="/ppt/notesMasters/notesMaster1.xml" Id="Rc286035f26ae41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7a0866b8e140e9" /><Relationship Type="http://schemas.openxmlformats.org/officeDocument/2006/relationships/notesMaster" Target="/ppt/notesMasters/notesMaster1.xml" Id="R20d0614dfa3a4d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85fdfcecd544eb" /><Relationship Type="http://schemas.openxmlformats.org/officeDocument/2006/relationships/notesMaster" Target="/ppt/notesMasters/notesMaster1.xml" Id="Recd91bf5468845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58adb8bc084a52" /><Relationship Type="http://schemas.openxmlformats.org/officeDocument/2006/relationships/notesMaster" Target="/ppt/notesMasters/notesMaster1.xml" Id="R941338f3f0a846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4e1753a8ae4651" /><Relationship Type="http://schemas.openxmlformats.org/officeDocument/2006/relationships/notesMaster" Target="/ppt/notesMasters/notesMaster1.xml" Id="R78cfc00d355545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and explain that arrays are their first tool for storing many related values under one name.</a:t>
            </a:r>
          </a:p>
          <a:p xmlns:a="http://schemas.openxmlformats.org/drawingml/2006/main">
            <a:r>
              <a:t>Point to the five boxes. The top row contains indexes. The bottom row contains stored values.</a:t>
            </a:r>
          </a:p>
          <a:p xmlns:a="http://schemas.openxmlformats.org/drawingml/2006/main">
            <a:r>
              <a:t>Ask: If I want the value 30, which index should I use? Expected answer: index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outcomes briefly. Tell students they will write and trace code during the session.</a:t>
            </a:r>
          </a:p>
          <a:p xmlns:a="http://schemas.openxmlformats.org/drawingml/2006/main">
            <a:r>
              <a:t>Use a repeated pattern: show a problem, ask for a prediction, trace one iteration, then execute the program.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version would be easier if the class had 100 scores.</a:t>
            </a:r>
          </a:p>
          <a:p xmlns:a="http://schemas.openxmlformats.org/drawingml/2006/main">
            <a:r>
              <a:t>Explain that an array stores a fixed number of values with one data type and one name.</a:t>
            </a:r>
          </a:p>
          <a:p xmlns:a="http://schemas.openxmlformats.org/drawingml/2006/main">
            <a:r>
              <a:t>Emphasize that the big advantage appears when arrays are combined with loops.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indexes from left to right: 0, 1, 2, 3, 4.</a:t>
            </a:r>
          </a:p>
          <a:p xmlns:a="http://schemas.openxmlformats.org/drawingml/2006/main">
            <a:r>
              <a:t>Ask students to identify the first, third, and last elements.</a:t>
            </a:r>
          </a:p>
          <a:p xmlns:a="http://schemas.openxmlformats.org/drawingml/2006/main">
            <a:r>
              <a:t>Expected answers: numbers[0], numbers[2], and numbers[4].</a:t>
            </a:r>
          </a:p>
          <a:p xmlns:a="http://schemas.openxmlformats.org/drawingml/2006/main">
            <a:r>
              <a:t>Repeat the key rule: for an array of size n, valid indexes run from 0 to n minus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declaration from left to right.</a:t>
            </a:r>
          </a:p>
          <a:p xmlns:a="http://schemas.openxmlformats.org/drawingml/2006/main">
            <a:r>
              <a:t>Explain that all five positions exist immediately after declaration.</a:t>
            </a:r>
          </a:p>
          <a:p xmlns:a="http://schemas.openxmlformats.org/drawingml/2006/main">
            <a:r>
              <a:t>Ask: What would change if we wanted eight integers? Expected answer: change the size to 8 and provide the intended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that reading does not change the array.</a:t>
            </a:r>
          </a:p>
          <a:p xmlns:a="http://schemas.openxmlformats.org/drawingml/2006/main">
            <a:r>
              <a:t>Then show the assignment at index 1. Only the second element changes.</a:t>
            </a:r>
          </a:p>
          <a:p xmlns:a="http://schemas.openxmlformats.org/drawingml/2006/main">
            <a:r>
              <a:t>Ask students to predict the whole array after numbers[3] = 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for loop header one part at a time.</a:t>
            </a:r>
          </a:p>
          <a:p xmlns:a="http://schemas.openxmlformats.org/drawingml/2006/main">
            <a:r>
              <a:t>Ask why the condition uses i &lt; 5 instead of i &lt;= 5. The index 5 does not exist.</a:t>
            </a:r>
          </a:p>
          <a:p xmlns:a="http://schemas.openxmlformats.org/drawingml/2006/main">
            <a:r>
              <a:t>Have students say the index and output aloud for each iteration.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a guided code reading exercise.</a:t>
            </a:r>
          </a:p>
          <a:p xmlns:a="http://schemas.openxmlformats.org/drawingml/2006/main">
            <a:r>
              <a:t>Ask students to identify the declaration, two access expressions, the update statement, and the traversal loop.</a:t>
            </a:r>
          </a:p>
          <a:p xmlns:a="http://schemas.openxmlformats.org/drawingml/2006/main">
            <a:r>
              <a:t>Before showing the output, let students predict every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sum starts at zero before the loop.</a:t>
            </a:r>
          </a:p>
          <a:p xmlns:a="http://schemas.openxmlformats.org/drawingml/2006/main">
            <a:r>
              <a:t>Trace each row of the table. The sum variable accumulates values.</a:t>
            </a:r>
          </a:p>
          <a:p xmlns:a="http://schemas.openxmlformats.org/drawingml/2006/main">
            <a:r>
              <a:t>Highlight 5.0. Dividing by a floating-point value produces a double result.</a:t>
            </a:r>
          </a:p>
          <a:p xmlns:a="http://schemas.openxmlformats.org/drawingml/2006/main">
            <a:r>
              <a:t>Ask how the code should change if the array size changes. Introduce a constant size as a later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2D array with a classroom table or spreadsheet.</a:t>
            </a:r>
          </a:p>
          <a:p xmlns:a="http://schemas.openxmlformats.org/drawingml/2006/main">
            <a:r>
              <a:t>The first index selects a row. The second index selects a column.</a:t>
            </a:r>
          </a:p>
          <a:p xmlns:a="http://schemas.openxmlformats.org/drawingml/2006/main">
            <a:r>
              <a:t>Trace exams[1][2]: choose row 1, then column 2, giving 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constants make the dimensions easier to understand and reuse.</a:t>
            </a:r>
          </a:p>
          <a:p xmlns:a="http://schemas.openxmlformats.org/drawingml/2006/main">
            <a:r>
              <a:t>Ask students to locate exams[0][1] before the assignment and after it.</a:t>
            </a:r>
          </a:p>
          <a:p xmlns:a="http://schemas.openxmlformats.org/drawingml/2006/main">
            <a:r>
              <a:t>Reinforce the order: row first, column second.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 out the nested loops using the sales table: keep the row fixed while the column changes.</a:t>
            </a:r>
          </a:p>
          <a:p xmlns:a="http://schemas.openxmlformats.org/drawingml/2006/main">
            <a:r>
              <a:t>When the inner loop finishes, the program prints a new line and moves to the next row.</a:t>
            </a:r>
          </a:p>
          <a:p xmlns:a="http://schemas.openxmlformats.org/drawingml/2006/main">
            <a:r>
              <a:t>Ask how many total iterations occur for a 3 by 4 array. Expected answer: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highlighted cell to check index reading.</a:t>
            </a:r>
          </a:p>
          <a:p xmlns:a="http://schemas.openxmlformats.org/drawingml/2006/main">
            <a:r>
              <a:t>Ask students for sales[2][0] and sales[0][3]. Expected answers: 120 and 400.</a:t>
            </a:r>
          </a:p>
          <a:p xmlns:a="http://schemas.openxmlformats.org/drawingml/2006/main">
            <a:r>
              <a:t>Connect the table to the nested loop: each row becomes one output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algorithm is the same accumulation idea used for the 1D array.</a:t>
            </a:r>
          </a:p>
          <a:p xmlns:a="http://schemas.openxmlformats.org/drawingml/2006/main">
            <a:r>
              <a:t>The only difference is that two loops are required to reach every element.</a:t>
            </a:r>
          </a:p>
          <a:p xmlns:a="http://schemas.openxmlformats.org/drawingml/2006/main">
            <a:r>
              <a:t>Calculate each row subtotal with the class, then combine them to confirm 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row represents one student. The columns contain that student's scores.</a:t>
            </a:r>
          </a:p>
          <a:p xmlns:a="http://schemas.openxmlformats.org/drawingml/2006/main">
            <a:r>
              <a:t>Reset total to zero at the beginning of each outer-loop iteration. Otherwise totals from earlier students would remain.</a:t>
            </a:r>
          </a:p>
          <a:p xmlns:a="http://schemas.openxmlformats.org/drawingml/2006/main">
            <a:r>
              <a:t>Ask students why average is declared as double. It may contain a decimal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explain why each line is dangerous before revealing the correction.</a:t>
            </a:r>
          </a:p>
          <a:p xmlns:a="http://schemas.openxmlformats.org/drawingml/2006/main">
            <a:r>
              <a:t>C++ may not stop an out-of-range access, so students must protect array bounds themselves.</a:t>
            </a:r>
          </a:p>
          <a:p xmlns:a="http://schemas.openxmlformats.org/drawingml/2006/main">
            <a:r>
              <a:t>Use this slide as a debugging checklist during the practical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8 to 10 minutes.</a:t>
            </a:r>
          </a:p>
          <a:p xmlns:a="http://schemas.openxmlformats.org/drawingml/2006/main">
            <a:r>
              <a:t>For Task A, the updated array should be 3, 6, 10, 12, 15.</a:t>
            </a:r>
          </a:p>
          <a:p xmlns:a="http://schemas.openxmlformats.org/drawingml/2006/main">
            <a:r>
              <a:t>For Task B, the expected sum is 46.</a:t>
            </a:r>
          </a:p>
          <a:p xmlns:a="http://schemas.openxmlformats.org/drawingml/2006/main">
            <a:r>
              <a:t>Ask early finishers to use constants for the array size and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0; 7; grid[2][1]; 12; because division may produce a decimal value.</a:t>
            </a:r>
          </a:p>
          <a:p xmlns:a="http://schemas.openxmlformats.org/drawingml/2006/main">
            <a:r>
              <a:t>Ask for an explanation, not only the short answer.</a:t>
            </a:r>
          </a:p>
          <a:p xmlns:a="http://schemas.openxmlformats.org/drawingml/2006/main">
            <a:r>
              <a:t>If students struggle with question 2, return to the size n means indexes 0 through n minus 1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explain the difference between 1D and 2D arrays in their own words.</a:t>
            </a:r>
          </a:p>
          <a:p xmlns:a="http://schemas.openxmlformats.org/drawingml/2006/main">
            <a:r>
              <a:t>Review the core sequence: declare, access, update, traverse, then calculate.</a:t>
            </a:r>
          </a:p>
          <a:p xmlns:a="http://schemas.openxmlformats.org/drawingml/2006/main">
            <a:r>
              <a:t>End by previewing the next practical skills: searching, maximum values, and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25ce2198f40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5042098574004" /><Relationship Type="http://schemas.openxmlformats.org/officeDocument/2006/relationships/slideLayout" Target="/ppt/slideLayouts/slideLayout1.xml" Id="R364b87dbfeba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4b87dbfeba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34ae6dfdd4060" /><Relationship Type="http://schemas.openxmlformats.org/officeDocument/2006/relationships/notesSlide" Target="/ppt/notesSlides/notesSlide1.xml" Id="Rdaf9fc2c291745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103fe2b894086" /><Relationship Type="http://schemas.openxmlformats.org/officeDocument/2006/relationships/notesSlide" Target="/ppt/notesSlides/notesSlide2.xml" Id="R355991b39fac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6fba842cd469d" /><Relationship Type="http://schemas.openxmlformats.org/officeDocument/2006/relationships/notesSlide" Target="/ppt/notesSlides/notesSlide3.xml" Id="Rfc5a5cbc8951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126a04c5743bc" /><Relationship Type="http://schemas.openxmlformats.org/officeDocument/2006/relationships/notesSlide" Target="/ppt/notesSlides/notesSlide4.xml" Id="Ra31ec505e59b4e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c016aa6cc4c3e" /><Relationship Type="http://schemas.openxmlformats.org/officeDocument/2006/relationships/notesSlide" Target="/ppt/notesSlides/notesSlide5.xml" Id="R75676725ddb24d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1e26284cc4d73" /><Relationship Type="http://schemas.openxmlformats.org/officeDocument/2006/relationships/notesSlide" Target="/ppt/notesSlides/notesSlide6.xml" Id="R7c1889dc7a1e40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a5eba2b014941" /><Relationship Type="http://schemas.openxmlformats.org/officeDocument/2006/relationships/notesSlide" Target="/ppt/notesSlides/notesSlide7.xml" Id="Rd18eb82d19864a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c86a00af44928" /><Relationship Type="http://schemas.openxmlformats.org/officeDocument/2006/relationships/notesSlide" Target="/ppt/notesSlides/notesSlide8.xml" Id="R2b736c98b0ed4b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2f43ac36412a" /><Relationship Type="http://schemas.openxmlformats.org/officeDocument/2006/relationships/notesSlide" Target="/ppt/notesSlides/notesSlide9.xml" Id="R03ca063b3d5b42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0308f403546b2" /><Relationship Type="http://schemas.openxmlformats.org/officeDocument/2006/relationships/notesSlide" Target="/ppt/notesSlides/notesSlide10.xml" Id="R07b3ca56397042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e7c4a9f544143" /><Relationship Type="http://schemas.openxmlformats.org/officeDocument/2006/relationships/notesSlide" Target="/ppt/notesSlides/notesSlide11.xml" Id="R79cc3f1019114f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7c7cd1ddf476b" /><Relationship Type="http://schemas.openxmlformats.org/officeDocument/2006/relationships/notesSlide" Target="/ppt/notesSlides/notesSlide12.xml" Id="Rabdacdf52fd943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987e052f84887" /><Relationship Type="http://schemas.openxmlformats.org/officeDocument/2006/relationships/notesSlide" Target="/ppt/notesSlides/notesSlide13.xml" Id="R59d8e212fe6044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5d56f3c474d2d" /><Relationship Type="http://schemas.openxmlformats.org/officeDocument/2006/relationships/notesSlide" Target="/ppt/notesSlides/notesSlide14.xml" Id="Rebf33b4a65b94e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bba5d08d34b3b" /><Relationship Type="http://schemas.openxmlformats.org/officeDocument/2006/relationships/notesSlide" Target="/ppt/notesSlides/notesSlide15.xml" Id="R57fcc8a9043442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65952acf4875" /><Relationship Type="http://schemas.openxmlformats.org/officeDocument/2006/relationships/notesSlide" Target="/ppt/notesSlides/notesSlide16.xml" Id="R71e9e11c33a342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5b1a4a8a4b7e" /><Relationship Type="http://schemas.openxmlformats.org/officeDocument/2006/relationships/notesSlide" Target="/ppt/notesSlides/notesSlide17.xml" Id="R132c9db0897844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16bf05d44954" /><Relationship Type="http://schemas.openxmlformats.org/officeDocument/2006/relationships/notesSlide" Target="/ppt/notesSlides/notesSlide18.xml" Id="R5279a95dcb2c46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906f836564c64" /><Relationship Type="http://schemas.openxmlformats.org/officeDocument/2006/relationships/notesSlide" Target="/ppt/notesSlides/notesSlide19.xml" Id="Rdfa88ab9046a4a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38C6-E847-49DA-BBA5-B29C0797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B1CC5-AD47-4950-83B7-35B1967B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0CB7F-4444-44A3-AA68-586552F2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Arrays in C++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E10B5-9A49-4319-A136-5A6AD6F7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One-dimensional and two-dimensional arrays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for beginners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572375" y="1504950"/>
          <a:ext xmlns:a="http://schemas.openxmlformats.org/drawingml/2006/main" cx="38100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</a:tblGrid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07838-D150-459C-86ED-873C07B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Section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C9E02-70AD-4508-BFD5-5E04C5E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Data Structures with C++</a:t>
            </a:r>
          </a:p>
        </p:txBody>
      </p:sp>
    </p:spTree>
    <p:extLst>
      <p:ext uri="{BB962C8B-B14F-4D97-AF65-F5344CB8AC3E}">
        <p14:creationId xmlns:p14="http://schemas.microsoft.com/office/powerpoint/2010/main" val="1040065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07F36-CD72-44E3-8F43-F6EE54C2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BD33D-3081-4D57-B43B-C1ED835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Learning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0936D-61AC-471B-8004-826E451B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BC7EF-C159-4253-B0E2-EC12EB3A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DCCAB-B879-4641-B37C-E8B77B8F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390EC-621B-488F-8261-BBE230D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By the end of this section, students can: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B2671-8692-42B8-AF7C-88EC8EB6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F5CB5-1DD9-42D1-8CD8-4C481B0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335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Declare and initialize a one-dimensional array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BD1DD-D2F8-4A00-808B-31C7A51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15D67-53E0-4B93-A0AF-D80B1B26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7652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Read and update elements using an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7B1BB-E771-4D51-B7CB-7EFE0B2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D34D8-FF19-4471-A966-5A6BBCC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194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Traverse arrays with for loops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9C600-7F33-4FEE-96E6-0933C2E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685C4-8074-4271-9106-E912A3C1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6242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Use nested loops with a two-dimensional array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C5D0A-49B5-43CB-8B0B-EF59DFAE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DB78B-74AB-4F55-8EA4-46E5E1A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Calculate totals and averages from array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225A1-E2D4-4451-833E-48EC99C7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D1DDD-7A31-4F7C-9814-DC5F61E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193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Teaching approach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0C6F4-7CF3-4A78-9C49-78C26F1C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2438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Predict first, trace the code, then run it.</a:t>
            </a:r>
          </a:p>
        </p:txBody>
      </p:sp>
    </p:spTree>
    <p:extLst>
      <p:ext uri="{BB962C8B-B14F-4D97-AF65-F5344CB8AC3E}">
        <p14:creationId xmlns:p14="http://schemas.microsoft.com/office/powerpoint/2010/main" val="1877223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D40F6-3E5B-4891-B27C-88B3B77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A1879-3396-4898-A10B-2F504FF2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Why arrays?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9DC2B-9F57-40A0-B1B8-96F3B5A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43AD6-CA9C-445D-A7AE-0B3176AD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D3F29-249B-4443-A75A-90675A3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738E0-C255-4DDA-9BA9-DA860E25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rPr>
              <a:t>Without an array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B2ADE-E0AA-46A4-9E32-7C68138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23862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F7127-0048-494B-A6E3-04E0662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38576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score1 = 84;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score2 = 78;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score3 = 90;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score4 = 92;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score5 = 85;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160E1-2018-474A-B876-A7626150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With an 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9BE6A-E1E4-46E2-9FCD-CD872B23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238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5B986-C62B-4EFA-B462-57039B7E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24075"/>
            <a:ext cx="38576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scores[5] =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{84, 78, 90, 92, 85};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9E36A-6213-43D5-BA9F-DF4079B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B6AB1-B836-427E-8FEA-200D5C25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62375"/>
            <a:ext cx="4010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Main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AB635-E2E8-4DC5-96CC-380B6154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05275"/>
            <a:ext cx="4010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One array name groups related values of the same data type.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54210-FC1C-420E-BEEB-FFDB291E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5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Arrays also work naturally with loops.</a:t>
            </a:r>
          </a:p>
        </p:txBody>
      </p:sp>
    </p:spTree>
    <p:extLst>
      <p:ext uri="{BB962C8B-B14F-4D97-AF65-F5344CB8AC3E}">
        <p14:creationId xmlns:p14="http://schemas.microsoft.com/office/powerpoint/2010/main" val="890735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6218C-2D76-4166-9055-CB938845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E2A78-D98B-45CE-82A5-754687C5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 one-dimensional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6C961-0416-434A-B79C-02F016E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DB92E-07B0-4F7D-B54F-72B1BEC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8C66D-8F73-45AD-B2F6-8B601199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7D3F6-A100-4C70-80B6-84257C33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An array is an ordered row of elements.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047750" y="2238375"/>
          <a:ext xmlns:a="http://schemas.openxmlformats.org/drawingml/2006/main" cx="100965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2019300"/>
                <a:gridCol w="2019300"/>
                <a:gridCol w="2019300"/>
                <a:gridCol w="2019300"/>
              </a:tblGrid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 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 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 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Index 4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A870A-9883-460B-96ED-D9CC597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numbers[2]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A3D0D-8895-4671-B0C1-C38CA58C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054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Indexing starts at 0, so the third element uses index 2.</a:t>
            </a:r>
          </a:p>
        </p:txBody>
      </p:sp>
    </p:spTree>
    <p:extLst>
      <p:ext uri="{BB962C8B-B14F-4D97-AF65-F5344CB8AC3E}">
        <p14:creationId xmlns:p14="http://schemas.microsoft.com/office/powerpoint/2010/main" val="981755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4C46F-F791-4896-8B60-35CD0F9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B9C86-34A8-491E-BADA-DDC566E3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Declaration and initialization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51F6C-8A3C-498B-8B8E-90B08C9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7885-DCFA-46D2-A883-D94BF1F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F4793-A1C5-420D-81A3-965FE88B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61970-FF53-4EEF-AA71-83D0126D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C42EA-F43E-4DE9-98AD-001ED28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43075"/>
            <a:ext cx="990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numbers[5] = {10, 20, 30, 40, 50};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71B53-0C4E-4793-BBB1-077E6C2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2095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rPr>
              <a:t>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1C96A-70A6-4B53-85CA-7EC2002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Data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E7D16-FD8B-4971-B2F8-E0B6960D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Every element stores an integer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27C9C-CA08-4B6C-AB89-D329FBA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2095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rPr>
              <a:t>numbers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4C06E-0EF7-49FE-9BF0-269D322F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Array name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BC658-9930-4113-9FBE-7D0BF696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Use this name to access the collection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15074-0DFA-4423-95AC-EF627DC8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2095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rPr>
              <a:t>[5]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C55A3-9FA1-4086-9118-72DF6328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Array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33502-4181-468E-9FFA-5AC3923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The array contains five elements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D81A5-2E53-4A24-8482-57F05C3F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2095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101828"/>
                </a:solidFill>
                <a:latin typeface="DejaVu Sans Mono"/>
                <a:ea typeface="DejaVu Sans Mono"/>
                <a:cs typeface="DejaVu Sans Mono"/>
              </a:rPr>
              <a:t>{...}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736B4-760A-471A-B15E-63B2B93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Initial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F4756-C7E8-4488-8F10-059047BC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672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Values fill indexes 0 through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2867E-C370-43A1-BDA3-08F92970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The declared size and the number of initial values should match the intended data.</a:t>
            </a:r>
          </a:p>
        </p:txBody>
      </p:sp>
    </p:spTree>
    <p:extLst>
      <p:ext uri="{BB962C8B-B14F-4D97-AF65-F5344CB8AC3E}">
        <p14:creationId xmlns:p14="http://schemas.microsoft.com/office/powerpoint/2010/main" val="1084945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F5FB0-3DE4-4394-AEFE-575A889B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8DEAC-5A88-45C3-9E3B-39720CA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Accessing and modifying elements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2DF0-E263-4F88-98D1-B03E130F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CCAA6-C016-476D-8CD2-9773484C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ADA4E-F50D-4D55-AEBF-43EBA4C9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2E134-6AF5-4414-A121-96661187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5810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A1C31-F2D8-485A-B5EF-133B532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5429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cout &lt;&lt; numbers[0];   // prints 10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cout &lt;&lt; numbers[2];   // prints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numbers[1] = 25;     // replaces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F3AA9-10D4-4C19-BF2A-C51F9749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Before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239000" y="1905000"/>
          <a:ext xmlns:a="http://schemas.openxmlformats.org/drawingml/2006/main" cx="4095750" cy="100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"/>
                <a:gridCol w="819150"/>
                <a:gridCol w="819150"/>
                <a:gridCol w="819150"/>
                <a:gridCol w="819150"/>
              </a:tblGrid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8FAF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B71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C6F20-584A-48B9-91D7-1416534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After numbers[1] = 25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239000" y="3667125"/>
          <a:ext xmlns:a="http://schemas.openxmlformats.org/drawingml/2006/main" cx="4095750" cy="100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9150"/>
                <a:gridCol w="819150"/>
                <a:gridCol w="819150"/>
                <a:gridCol w="819150"/>
                <a:gridCol w="819150"/>
              </a:tblGrid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A2F37-274A-472A-9306-E31E3C64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A8710-345A-4D23-881A-E9A9F65A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558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Remember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773D0-F4A7-4CC8-AF24-9A26B61C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558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The index selects one position. Assignment changes the value stored at that position.</a:t>
            </a:r>
          </a:p>
        </p:txBody>
      </p:sp>
    </p:spTree>
    <p:extLst>
      <p:ext uri="{BB962C8B-B14F-4D97-AF65-F5344CB8AC3E}">
        <p14:creationId xmlns:p14="http://schemas.microsoft.com/office/powerpoint/2010/main" val="1453470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B94C8-D570-44B1-ACB5-54A942E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FEE14-7B0A-4618-BF88-66472435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Traversing a one-dimensional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04389-91F3-4FD7-8A22-22FE6902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5292-6D65-4179-869C-7446FE1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90F22-519C-4329-8682-D667B90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DB418-C41C-423D-BC16-2F67158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8578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8666C-88A5-4731-A904-05A5093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38325"/>
            <a:ext cx="54768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for (int i = 0; i &lt; 5; i++)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numbers[i] &lt;&lt; " ";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0A3B8-1B5D-468D-9E2C-2D0105E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9D757-FD59-48A6-8965-E305A023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7162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823D1-3542-4B8D-ADA4-F604CD4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14525"/>
            <a:ext cx="3581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i begins at 0, the first valid index.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8511A-C0C9-407C-AC93-B35699A0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1ECC0-8EAB-4C47-8A6D-0A541D8F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1462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7E8F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7E8F9"/>
                </a:solidFill>
                <a:latin typeface="DejaVu Sans"/>
                <a:ea typeface="DejaVu Sans"/>
                <a:cs typeface="DejaVu Sans"/>
              </a:rPr>
              <a:t>Continue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A0135-7442-4D1A-8547-BD6EB63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57525"/>
            <a:ext cx="3581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The loop runs while i is less than 5.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5D69C-21EC-492A-88CB-C881C483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571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4981A-99CD-427A-B92B-884405E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Move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439C7-5242-4188-8023-B3403E7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0525"/>
            <a:ext cx="3581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i++ advances to the next position.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AED19-F74F-4229-9B95-8905188F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8578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Output: 10 20 30 40 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DAB62-3A6C-4944-8F99-66ED0DA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Traversal means visiting each element once.</a:t>
            </a:r>
          </a:p>
        </p:txBody>
      </p:sp>
    </p:spTree>
    <p:extLst>
      <p:ext uri="{BB962C8B-B14F-4D97-AF65-F5344CB8AC3E}">
        <p14:creationId xmlns:p14="http://schemas.microsoft.com/office/powerpoint/2010/main" val="932339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B3E5C-223A-4D29-8D6A-79C5ABB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CDC89-AC47-4DFC-B44E-4D817DF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Example 1: complete one-dimensional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0A37C-0F74-4979-A52D-BB0411B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34738-35C8-4421-9D79-CB9C591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B1B49-5BC6-488C-A7D9-9753A0F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25F9C-F426-4FFD-AD10-5EB3B69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23900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239DD-265D-4476-98F9-6A72983F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6858000" cy="449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int numbers[5] = {10, 20, 30, 40, 50};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"First element: " &lt;&lt; numbers[0] &lt;&lt; endl;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"Third element: " &lt;&lt; numbers[2] &lt;&lt; endl;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numbers[1] = 25;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"Modified second element: " &lt;&lt; numbers[1] &lt;&lt; endl;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"Array elements: ";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for (int i = 0; i &lt; 5; i++)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cout &lt;&lt; numbers[i] &lt;&lt; " 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6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E9D7F-E837-4A54-9CCA-41C5C30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Program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5DCD4-D117-47D9-B448-98C51AF6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1CB4F-59DE-4FF2-9E27-B7F3CDE0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24075"/>
            <a:ext cx="27622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First element: 10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Third element: 30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Modified second element: 25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Array elements: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10 25 30 40 50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06370-F99C-4A3C-A84A-F8C7DA06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0B610-0E0B-4669-8A1F-1386056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Read it in four parts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292E8-34BF-4EF4-9D00-056E972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19650"/>
            <a:ext cx="2914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Create the array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Read two elements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Update one element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Traverse all elements</a:t>
            </a:r>
          </a:p>
        </p:txBody>
      </p:sp>
    </p:spTree>
    <p:extLst>
      <p:ext uri="{BB962C8B-B14F-4D97-AF65-F5344CB8AC3E}">
        <p14:creationId xmlns:p14="http://schemas.microsoft.com/office/powerpoint/2010/main" val="1153243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5AA7B-99B1-4D98-AEEB-38A17BE1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27DC1-D4D7-40A3-8B20-B1A4CDF4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Example 2: sum and average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B3B80-0608-4593-8C47-046D3EF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ECDD-37E7-483D-86B2-25B3338F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3FF6C-DA17-4932-A32D-D46C4767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4C595-7956-41AF-B993-F613F093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810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1FCEC-CBB6-4D59-AA9C-6E7D508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47825"/>
            <a:ext cx="5429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numbers[5] = {10, 20, 30, 40, 50};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sum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for (int i = 0; i &lt; 5; i++)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sum += numbers[i];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double average = sum / 5.0;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096125" y="1476375"/>
          <a:ext xmlns:a="http://schemas.openxmlformats.org/drawingml/2006/main" cx="4286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428750"/>
                <a:gridCol w="14287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numbers[i]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sum after addition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3CDD3-9433-4428-8CB4-AF03995D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Sum = 150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8EE80-BB1D-439B-B637-D26E6853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Average = 150 / 5.0 = 30</a:t>
            </a:r>
          </a:p>
        </p:txBody>
      </p:sp>
    </p:spTree>
    <p:extLst>
      <p:ext uri="{BB962C8B-B14F-4D97-AF65-F5344CB8AC3E}">
        <p14:creationId xmlns:p14="http://schemas.microsoft.com/office/powerpoint/2010/main" val="2140318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3C7DF-F187-4C1D-8102-DBE6E224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8A89-2DA8-4D60-80DD-8C69C77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A two-dimensional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19B04-EC7E-483D-B45A-3476215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0E080-D866-4812-9492-4B856A2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8C374-71F3-4AD6-9CEF-7488FAA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687C4-8F42-4B0C-BA9A-B9E574D2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A 2D array organizes values into rows and columns.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2524125" y="2095500"/>
          <a:ext xmlns:a="http://schemas.openxmlformats.org/drawingml/2006/main" cx="7143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5938"/>
                <a:gridCol w="1785938"/>
                <a:gridCol w="1785938"/>
                <a:gridCol w="1785938"/>
              </a:tblGrid>
              <a:tr h="857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Column 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Column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Column 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 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84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981AD-591C-4502-A151-87CE4890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exams[1][2] = 85</a:t>
            </a:r>
          </a:p>
        </p:txBody>
      </p:sp>
    </p:spTree>
    <p:extLst>
      <p:ext uri="{BB962C8B-B14F-4D97-AF65-F5344CB8AC3E}">
        <p14:creationId xmlns:p14="http://schemas.microsoft.com/office/powerpoint/2010/main" val="1947328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FF405-D05E-4A63-BB95-3EB30533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0DD59-3DC3-460A-AD03-675BB3D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Declaring, accessing, and modifying a 2D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11108-EBAE-4678-9D17-8FC3FA53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A42F2-DE11-4EC4-A1E5-EDE83DD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0F08E-2F63-4705-B466-6D6457C6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9C169-7E47-4845-8715-00E14567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477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2F2F4-B857-46FC-AB10-5F85633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60960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const int ROWS = 2, COLS =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exams[ROWS][COLS] =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{84, 78, 90},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{92, 97, 85}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cout &lt;&lt; exams[1][2];   // 85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exams[0][1] = 80;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7BF8F-5E01-47C8-99D8-B55CBF65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C1D03-24C6-4A21-B790-1E6AA492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First dimension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AA87A-5EDA-4E82-88DB-75E6A43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20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ROWS controls how many horizontal records the table stores.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DCAC9-71E5-475B-BB2D-8741BF17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57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2CB90-6E25-4ECE-87CA-32F6FA7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7E8F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7E8F9"/>
                </a:solidFill>
                <a:latin typeface="DejaVu Sans"/>
                <a:ea typeface="DejaVu Sans"/>
                <a:cs typeface="DejaVu Sans"/>
              </a:rPr>
              <a:t>Second dimension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0627D-9CAC-437F-9B5D-7D0AB51A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200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COLS controls how many values appear in each row.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7A31E-158E-4CC5-BD6C-4B94F57F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7058D-2BF8-493F-AD37-45211752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After the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5D579-5D01-4BFF-97AC-BE29C5B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exams[0][1] changes from 78 to 80.</a:t>
            </a:r>
          </a:p>
        </p:txBody>
      </p:sp>
    </p:spTree>
    <p:extLst>
      <p:ext uri="{BB962C8B-B14F-4D97-AF65-F5344CB8AC3E}">
        <p14:creationId xmlns:p14="http://schemas.microsoft.com/office/powerpoint/2010/main" val="1095638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B12C3-AA2B-4AC8-882C-24E25FD1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0ECF2-B60C-4CB9-B99E-61F9FE4F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Traversing a 2D array with nested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1AE97-5636-487A-8967-DB6B265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64EB5-8AFB-4F6B-85F2-B22C46C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7FDC6-ECDE-4657-AA8B-54899B45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D0A4D-3FE5-4CC9-B52B-40280D0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6675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E1105-E81C-4554-B21E-205694DD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628650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for (int row = 0; row &lt; ROWS; row++)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for (int col = 0; col &lt; COLS; col++)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cout &lt;&lt; sales[row][col] &lt;&lt; "\t";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cout &lt;&lt; endl;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EC71E-1097-464E-8FE0-F52880A6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Outer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72E5F-9C0F-4915-B92B-4BE705E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Selects one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17C5E-D3E2-481F-BB30-FC60728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Inner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460E5-2F94-42F2-9BA7-F681C52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Visits every column in that 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E66C-B65A-496E-809A-BFE47497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rPr>
              <a:t>endl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DFCC4-9647-4BBF-8265-B5B66771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Starts a new output line after each 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B344B-D1B0-4592-A3E7-D098E284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863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For every row, visit every column.</a:t>
            </a:r>
          </a:p>
        </p:txBody>
      </p:sp>
    </p:spTree>
    <p:extLst>
      <p:ext uri="{BB962C8B-B14F-4D97-AF65-F5344CB8AC3E}">
        <p14:creationId xmlns:p14="http://schemas.microsoft.com/office/powerpoint/2010/main" val="20144395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4156E-69B0-441E-AC12-51D42074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BE921-82C7-4488-8EF5-2CC5C77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Example: traversing the sales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8E87-1E88-4A97-835C-2098FC90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084AB-DA83-4A3A-A78A-248940C7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71573-55F8-44E2-922F-08B6ED67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190625" y="1571625"/>
          <a:ext xmlns:a="http://schemas.openxmlformats.org/drawingml/2006/main" cx="9810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2150"/>
                <a:gridCol w="1962150"/>
                <a:gridCol w="1962150"/>
                <a:gridCol w="1962150"/>
                <a:gridCol w="1962150"/>
              </a:tblGrid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 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 0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350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 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D7A59-6980-49BC-ACB7-8E16C81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sales[1][2]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DC6BF-12F4-48CC-A681-6E3F261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95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stores 350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E6388-A92B-44D1-B49B-8DD11680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The nested loops print 3 rows × 4 columns = 12 values.</a:t>
            </a:r>
          </a:p>
        </p:txBody>
      </p:sp>
    </p:spTree>
    <p:extLst>
      <p:ext uri="{BB962C8B-B14F-4D97-AF65-F5344CB8AC3E}">
        <p14:creationId xmlns:p14="http://schemas.microsoft.com/office/powerpoint/2010/main" val="10945005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8BEB9-A3C4-4595-92E6-189E755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F3270-6D81-40C0-8EE0-352E1150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Example: sum all elements in a 2D array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F003F-A6B2-47D8-A328-DE983B7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D2E30-CAA6-4EF3-A35B-15CEE232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8E10B-237A-41E6-AC4F-9A578B5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FA3A4-601D-47BC-A096-AFDF5FC0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477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CBB66-4B60-4B8F-90A6-149C82A8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52575"/>
            <a:ext cx="609600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total = 0;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int numbers[3][3] =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{2, 7, 9},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{6, 1, 8},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{4, 3, 7}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for (int row = 0; row &lt; 3; row++)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for (int col = 0; col &lt; 3; col++)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total += numbers[row][col];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01579-C56F-431B-8E88-42DD6DF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Row totals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953375" y="2047875"/>
          <a:ext xmlns:a="http://schemas.openxmlformats.org/drawingml/2006/main" cx="2571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285875"/>
              </a:tblGrid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Subtotal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C8EB8-9ED1-4962-98B0-4BDB27E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18 + 15 + 14 = 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65D61-7C18-45AD-8ABF-D809154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86EFA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86EFAC"/>
                </a:solidFill>
                <a:latin typeface="DejaVu Sans"/>
                <a:ea typeface="DejaVu Sans"/>
                <a:cs typeface="DejaVu Sans"/>
              </a:rPr>
              <a:t>The total is 47</a:t>
            </a:r>
          </a:p>
        </p:txBody>
      </p:sp>
    </p:spTree>
    <p:extLst>
      <p:ext uri="{BB962C8B-B14F-4D97-AF65-F5344CB8AC3E}">
        <p14:creationId xmlns:p14="http://schemas.microsoft.com/office/powerpoint/2010/main" val="16432861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19438-D941-4C8A-9D7E-64434EC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9CB85-4614-4694-A573-AD9144C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Example: student averages by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62D1B-B10B-4ED1-86FC-E171780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5CDEC-23DD-4E02-9C43-6F12D11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DDF09-E655-4D79-ADD6-E7A7E435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2986"/>
                <a:gridCol w="1572986"/>
                <a:gridCol w="1572986"/>
                <a:gridCol w="1572986"/>
                <a:gridCol w="1572986"/>
                <a:gridCol w="1572986"/>
                <a:gridCol w="1572986"/>
              </a:tblGrid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Student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1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2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3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4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Score 5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</a:t>
                      </a:r>
                    </a:p>
                  </a:txBody>
                  <a:tcPr marL="91440" marR="91440" marT="45720" marB="45720">
                    <a:solidFill>
                      <a:srgbClr val="2DD4B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88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97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79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94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88.8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91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78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79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84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83.6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82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89</a:t>
                      </a:r>
                    </a:p>
                  </a:txBody>
                  <a:tcPr marL="91440" marR="91440" marT="45720" marB="45720"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0182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80.6</a:t>
                      </a:r>
                    </a:p>
                  </a:txBody>
                  <a:tcPr marL="91440" marR="91440" marT="45720" marB="45720">
                    <a:solidFill>
                      <a:srgbClr val="FBBF2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D77EB-0D7B-47FA-8854-31AD2C94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52950"/>
            <a:ext cx="8048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12AE8-26BB-429D-9E38-1048E4D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24400"/>
            <a:ext cx="76676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for (int row = 0; row &lt; NUM_STUDENTS; row++)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double total = 0;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for (int col = 0; col &lt; NUM_SCORES; col++)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total += scores[row][col];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double average = total / NUM_SCORES;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13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936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4AEC6-CAD7-406B-9725-F61B522F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9F4B2-E796-4EF5-96C9-8198C20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Common array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F6F6-22B4-4AF0-B64D-99CB2F58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D900E-3A76-4CC4-A3B7-3069BDCB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3291E-4DF4-4429-8F51-90C6080A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97D58-2854-4933-9510-FD223A14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rPr>
              <a:t>Out-of-range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15969-7522-49C2-B411-4F74AC8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716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numbers[5]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51755-D4FD-4C34-8B06-A1D0C75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01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For five elements, the last valid index is 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15568-3CF4-43EF-84A2-83A62EC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FE9DC-DE0B-4DC3-AF0A-FED8BC8F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rPr>
              <a:t>Wrong loop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E57CC-5D1C-4B4F-B7F6-CF4A1E12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955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i &lt;=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10263-8068-4CDB-8748-08F5A4A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Use i &lt; 5 to stop before the invalid index.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EAE40-554E-45B3-B23C-E7CC4689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974AD-D261-4086-B966-79D7400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rPr>
              <a:t>Uninitialized accumulator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E8C35-B18A-4577-A86E-CF34A583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1950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int sum;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A400C-4972-4CBF-9FB8-AD16515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Start with int sum = 0 before adding values.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91417-3110-4674-AF06-DADC386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16B2B-4A24-4B99-9438-B67D7357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B7185"/>
                </a:solidFill>
                <a:latin typeface="DejaVu Sans"/>
                <a:ea typeface="DejaVu Sans"/>
                <a:cs typeface="DejaVu Sans"/>
              </a:rPr>
              <a:t>Swapped 2D indexes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DDF45-4B00-4444-8044-A8249DD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43450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BBF24"/>
                </a:solidFill>
                <a:latin typeface="DejaVu Sans Mono"/>
                <a:ea typeface="DejaVu Sans Mono"/>
                <a:cs typeface="DejaVu Sans Mono"/>
              </a:rPr>
              <a:t>data[col][row]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30283-8351-4913-B989-6FA2CB46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720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Use the intended order: data[row][col].</a:t>
            </a:r>
          </a:p>
        </p:txBody>
      </p:sp>
    </p:spTree>
    <p:extLst>
      <p:ext uri="{BB962C8B-B14F-4D97-AF65-F5344CB8AC3E}">
        <p14:creationId xmlns:p14="http://schemas.microsoft.com/office/powerpoint/2010/main" val="1316882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A1DEF-67E1-42E8-9931-4D7F6DEA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5852-103A-46C3-BEB7-C1618AFB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Guided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436EA-4176-4246-BAF8-FCA357F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5193F-EBA6-4FCA-869F-8690048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095BC-4B51-490B-A921-7F253907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4ACCD-3B83-4D6E-893B-CAF042C7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Task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CA9E2-6398-46B3-81F7-B80BE71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Create an integer array containing 3, 6, 9, 12, and 15. Print the first and last elements, then change 9 to 10.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F5B99-F54C-4051-8E27-9A0BC40A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Task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B97E6-4FF1-41FD-BE1A-A2123DA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Use a loop to calculate the sum of the updated array. Predict the result before running the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DF8BF-2667-4629-97C1-7D4B097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3058D-8C70-4C7C-AB13-3D05F7A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7E8F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7E8F9"/>
                </a:solidFill>
                <a:latin typeface="DejaVu Sans"/>
                <a:ea typeface="DejaVu Sans"/>
                <a:cs typeface="DejaVu Sans"/>
              </a:rPr>
              <a:t>Challenge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DBDFA-F054-434A-8988-7593E0D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Store six values in a 2 × 3 array and print them as two rows using nested loops.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7A704-D8B5-4793-8268-CE9F4EA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2385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86EFA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86EFAC"/>
                </a:solidFill>
                <a:latin typeface="DejaVu Sans"/>
                <a:ea typeface="DejaVu Sans"/>
                <a:cs typeface="DejaVu Sans"/>
              </a:rPr>
              <a:t>Check your prediction after running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15400271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B49F2-432D-40F4-8FFD-E91780AC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FF892-73EB-4543-81D4-C49423A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Check your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2C0BE-5C7B-4A4A-9AC5-C0128F2D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B4993-8D2B-4308-A05D-AB3C129B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55FD7-1B92-45DB-AA8A-4902195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2A355-1464-47F8-94C3-86FAE9EB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1. What is the first valid index in any array?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C5532-84EC-46A3-B725-A45C1C9C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001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234C4-BCBD-406F-865F-31F0D9C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479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2. What is the last valid index of int x[8]?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055E4-64C8-4981-B70F-4730D774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266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C0B91-1777-4E8E-87D2-A86C908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3. Which expression reads row 2, column 1 of grid?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EA11D-4ED4-47BA-8042-88187C75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337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D2489-0324-4B3D-8967-4A85D8B0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4. How many visits occur when traversing a 3 × 4 array?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BF1F8-8924-4926-9F90-22C8040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C37DD-C482-4A7F-96B2-01B8CA2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482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5. Why should an average usually use double?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D838C-8D25-4AA9-B88C-08E5730A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672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79222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46F31-43C1-4ABC-AFB1-1DCB185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C1B0F-B35A-46EE-B819-446FCDA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Section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D5EDB-F452-45F3-ABE8-30EEEB4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5A61D-C70B-4727-A8E8-370D680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4A3B8"/>
                </a:solidFill>
                <a:latin typeface="DejaVu Sans"/>
                <a:ea typeface="DejaVu Sans"/>
                <a:cs typeface="DejaVu Sans"/>
              </a:rPr>
              <a:t>C++ Practical, Section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0415A-9F61-45B0-B95E-241EEAE1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35549-A0FD-40EC-8E99-9101DFC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One-dimensional arrays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7DCB3-FE3A-4D59-A83D-FFF760F3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Store one ordered sequence.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Use one index.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Traverse with one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7A295-FD24-4945-B405-FC8907DC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763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BBF2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BBF24"/>
                </a:solidFill>
                <a:latin typeface="DejaVu Sans"/>
                <a:ea typeface="DejaVu Sans"/>
                <a:cs typeface="DejaVu Sans"/>
              </a:rPr>
              <a:t>Two-dimensional arrays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1646A-BE68-4877-8BE8-C91C191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431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Store rows and columns.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Use a row index and a column index.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8FAFC"/>
                </a:solidFill>
                <a:latin typeface="DejaVu Sans"/>
                <a:ea typeface="DejaVu Sans"/>
                <a:cs typeface="DejaVu Sans"/>
              </a:rPr>
              <a:t>Traverse with nested loops.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86A13-EC8D-4FDD-AC9A-CC50895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3C01C-FD93-499E-8952-1938881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7E8F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67E8F9"/>
                </a:solidFill>
                <a:latin typeface="DejaVu Sans"/>
                <a:ea typeface="DejaVu Sans"/>
                <a:cs typeface="DejaVu Sans"/>
              </a:rPr>
              <a:t>Core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8FFF1-6326-46EA-B7CD-FB63DF2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33875"/>
            <a:ext cx="8286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5213E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C2A09-FEB8-4B1C-9632-2498DDEC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0532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declare    access    update    traverse    calculate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7453D-D21A-47A4-829F-060CBB9C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7E2F0"/>
                </a:solidFill>
                <a:latin typeface="DejaVu Sans"/>
                <a:ea typeface="DejaVu Sans"/>
                <a:cs typeface="DejaVu Sans"/>
              </a:rPr>
              <a:t>Next practice: search for a value, find the maximum, and pass arrays to functions.</a:t>
            </a:r>
          </a:p>
        </p:txBody>
      </p:sp>
    </p:spTree>
    <p:extLst>
      <p:ext uri="{BB962C8B-B14F-4D97-AF65-F5344CB8AC3E}">
        <p14:creationId xmlns:p14="http://schemas.microsoft.com/office/powerpoint/2010/main" val="861195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2026-09-25T19:04:55.4510000Z</dcterms:created>
  <dcterms:modified xsi:type="dcterms:W3CDTF">2026-09-25T19:04:55.4510000Z</dcterms:modified>
</coreProperties>
</file>